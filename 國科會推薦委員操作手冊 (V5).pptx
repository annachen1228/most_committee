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hia-Hui Chang" initials="" lastIdx="3" clrIdx="0"/>
  <p:cmAuthor id="1" name="黃懷萱" initials="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294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6-17T18:17:07.747" idx="1">
    <p:pos x="98" y="2371"/>
    <p:text>有何快速的方法可以下載?</p:text>
  </p:cm>
  <p:cm authorId="1" dt="2025-06-17T18:17:07.747" idx="1">
    <p:pos x="98" y="2371"/>
    <p:text>老師好，目前沒辦法避免環境安裝的問題，已目前專案來說只有兩個路線
1. 整包檔案（下載較久），但可以直接使用
2. 簡易檔案，但使用者需要自己下載套件（可以比較快完成，但是需要使用者自行操作指令，可能會遇到問題）
若要可以很快速的安裝檔案，有某些架構需要重新調整，可能要花不少時間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01T08:30:27.587" idx="2">
    <p:pos x="96" y="737"/>
    <p:text>檔案都在 P2 的下載連結裡面有附</p:text>
  </p:cm>
  <p:cm authorId="0" dt="2025-05-01T09:43:56.166" idx="3">
    <p:pos x="96" y="737"/>
    <p:text>P2是指?</p:text>
  </p:cm>
  <p:cm authorId="0" dt="2025-05-01T11:30:51.519" idx="2">
    <p:pos x="96" y="737"/>
    <p:text>有原始檔嗎?</p:text>
  </p:cm>
  <p:cm authorId="1" dt="2025-05-01T11:30:51.519" idx="3">
    <p:pos x="96" y="737"/>
    <p:text>第二頁的下載連結裡面
有附程式碼與資料原始檔案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96215d1e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96215d1e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96215d1e5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96215d1e5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0d610595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0d610595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d6105950d_0_1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d6105950d_0_1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04b3a867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04b3a867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96215d1e5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96215d1e5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fe0e6f9b7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fe0e6f9b7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04b3a867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04b3a867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04b3a867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04b3a867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04b3a8677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04b3a8677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6ef1fba54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6ef1fba54_2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6ef1fba54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6ef1fba54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e0e6f9b7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fe0e6f9b72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fe0e6f9b7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fe0e6f9b7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fe0e6f9b72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fe0e6f9b72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fe0e6f9b72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fe0e6f9b72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196215d1e5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196215d1e5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196215d1e5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196215d1e5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fe0e6f9b7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fe0e6f9b7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fe0e6f9b72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fe0e6f9b72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fe112e268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fe112e268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404b3a867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404b3a867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404b3a867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404b3a867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rouos/MOST_committe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aAtPL6qK5nv8LZ0FBNNzGZbNCxtC7wlu/view?usp=shar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-scm.com/downloads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comments" Target="../comments/comment1.xml"/><Relationship Id="rId4" Type="http://schemas.openxmlformats.org/officeDocument/2006/relationships/hyperlink" Target="https://drive.google.com/drive/folders/1uAmfwzAkYV0dGE2VA8u9rmlSrZRJqAtZ?usp=sharin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comments" Target="../comments/commen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638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/>
              <a:t>國科會計畫審查委員推薦系統操作手冊</a:t>
            </a:r>
            <a:endParaRPr sz="60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zh-TW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https://github.com/Chrouos/MOST_committee</a:t>
            </a:r>
            <a:endParaRPr sz="2400" u="sng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200"/>
              <a:t>前置準備</a:t>
            </a:r>
            <a:endParaRPr sz="7200"/>
          </a:p>
        </p:txBody>
      </p:sp>
      <p:sp>
        <p:nvSpPr>
          <p:cNvPr id="61" name="Google Shape;61;p14"/>
          <p:cNvSpPr txBox="1"/>
          <p:nvPr/>
        </p:nvSpPr>
        <p:spPr>
          <a:xfrm>
            <a:off x="396875" y="3382175"/>
            <a:ext cx="8211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62" name="Google Shape;62;p14"/>
          <p:cNvSpPr txBox="1"/>
          <p:nvPr/>
        </p:nvSpPr>
        <p:spPr>
          <a:xfrm>
            <a:off x="21450" y="2912600"/>
            <a:ext cx="9122700" cy="16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600">
                <a:solidFill>
                  <a:schemeClr val="dk2"/>
                </a:solidFill>
              </a:rPr>
              <a:t>下載連結： </a:t>
            </a:r>
            <a:r>
              <a:rPr lang="zh-TW" sz="4300" u="sng">
                <a:solidFill>
                  <a:schemeClr val="hlink"/>
                </a:solidFill>
                <a:hlinkClick r:id="rId3"/>
              </a:rPr>
              <a:t>第五版</a:t>
            </a:r>
            <a:br>
              <a:rPr lang="zh-TW" sz="2600">
                <a:solidFill>
                  <a:schemeClr val="dk2"/>
                </a:solidFill>
              </a:rPr>
            </a:br>
            <a:r>
              <a:rPr lang="zh-TW" sz="2600">
                <a:solidFill>
                  <a:schemeClr val="dk2"/>
                </a:solidFill>
              </a:rPr>
              <a:t>2025/04/06 更新，過去版本請記得更新</a:t>
            </a:r>
            <a:endParaRPr sz="26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46" y="1571601"/>
            <a:ext cx="4769749" cy="18227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01250" y="361925"/>
            <a:ext cx="158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下載 Git</a:t>
            </a:r>
            <a:endParaRPr b="1"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4">
            <a:alphaModFix/>
          </a:blip>
          <a:srcRect r="69102"/>
          <a:stretch/>
        </p:blipFill>
        <p:spPr>
          <a:xfrm>
            <a:off x="1508725" y="4047500"/>
            <a:ext cx="1774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6075" y="2161279"/>
            <a:ext cx="3634050" cy="28522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71" name="Google Shape;71;p15"/>
          <p:cNvSpPr txBox="1"/>
          <p:nvPr/>
        </p:nvSpPr>
        <p:spPr>
          <a:xfrm>
            <a:off x="1718075" y="278825"/>
            <a:ext cx="4359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在資料夾內，先預先下載！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可以</a:t>
            </a:r>
            <a:r>
              <a:rPr lang="zh-TW" sz="1800" u="sng">
                <a:solidFill>
                  <a:schemeClr val="hlink"/>
                </a:solidFill>
                <a:highlight>
                  <a:srgbClr val="FFF2CC"/>
                </a:highlight>
                <a:hlinkClick r:id="rId6"/>
              </a:rPr>
              <a:t>連結</a:t>
            </a:r>
            <a:r>
              <a:rPr lang="zh-TW" sz="1800">
                <a:solidFill>
                  <a:schemeClr val="dk2"/>
                </a:solidFill>
              </a:rPr>
              <a:t>下載最新版本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/>
          <p:nvPr/>
        </p:nvSpPr>
        <p:spPr>
          <a:xfrm rot="5400000">
            <a:off x="1911225" y="1326275"/>
            <a:ext cx="969600" cy="352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648700" y="2133750"/>
            <a:ext cx="1897800" cy="606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2525250" y="111967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FF0000"/>
                </a:solidFill>
              </a:rPr>
              <a:t>Note: 選擇屬於你的作業系統</a:t>
            </a:r>
            <a:endParaRPr sz="1500">
              <a:solidFill>
                <a:srgbClr val="FF0000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 rot="5400000">
            <a:off x="2157225" y="3532625"/>
            <a:ext cx="477600" cy="352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3355025" y="4023650"/>
            <a:ext cx="1820400" cy="352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3290825" y="4267225"/>
            <a:ext cx="1948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FF0000"/>
                </a:solidFill>
              </a:rPr>
              <a:t>Install 一直按下去</a:t>
            </a:r>
            <a:endParaRPr sz="1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請預先下載避免遇到這個問題</a:t>
            </a:r>
            <a:endParaRPr b="1"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332625" y="957750"/>
            <a:ext cx="85206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400" b="1" dirty="0"/>
              <a:t>下載連結: https://visualstudio.microsoft.com/zh-hant/visual-cpp-build-tools/ </a:t>
            </a:r>
            <a:endParaRPr sz="1400" b="1" dirty="0"/>
          </a:p>
        </p:txBody>
      </p:sp>
      <p:sp>
        <p:nvSpPr>
          <p:cNvPr id="84" name="Google Shape;84;p16"/>
          <p:cNvSpPr txBox="1"/>
          <p:nvPr/>
        </p:nvSpPr>
        <p:spPr>
          <a:xfrm>
            <a:off x="5201525" y="414400"/>
            <a:ext cx="3942600" cy="58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rgbClr val="FF0000"/>
                </a:solidFill>
              </a:rPr>
              <a:t>Error: Microsoft Visual C++ 14.0 or greater is required. </a:t>
            </a:r>
            <a:br>
              <a:rPr lang="zh-TW" sz="1200">
                <a:solidFill>
                  <a:srgbClr val="FF0000"/>
                </a:solidFill>
              </a:rPr>
            </a:br>
            <a:r>
              <a:rPr lang="zh-TW" sz="1200">
                <a:solidFill>
                  <a:srgbClr val="FF0000"/>
                </a:solidFill>
              </a:rPr>
              <a:t>Get it with "Microsoft C++ Build Tools": </a:t>
            </a:r>
            <a:endParaRPr sz="1200">
              <a:solidFill>
                <a:srgbClr val="FF0000"/>
              </a:solidFill>
            </a:endParaRPr>
          </a:p>
        </p:txBody>
      </p:sp>
      <p:grpSp>
        <p:nvGrpSpPr>
          <p:cNvPr id="85" name="Google Shape;85;p16"/>
          <p:cNvGrpSpPr/>
          <p:nvPr/>
        </p:nvGrpSpPr>
        <p:grpSpPr>
          <a:xfrm>
            <a:off x="337856" y="1921880"/>
            <a:ext cx="8057678" cy="3036838"/>
            <a:chOff x="256775" y="2536675"/>
            <a:chExt cx="9064775" cy="3416400"/>
          </a:xfrm>
        </p:grpSpPr>
        <p:pic>
          <p:nvPicPr>
            <p:cNvPr id="86" name="Google Shape;86;p16"/>
            <p:cNvPicPr preferRelativeResize="0"/>
            <p:nvPr/>
          </p:nvPicPr>
          <p:blipFill rotWithShape="1">
            <a:blip r:embed="rId3">
              <a:alphaModFix/>
            </a:blip>
            <a:srcRect l="1146"/>
            <a:stretch/>
          </p:blipFill>
          <p:spPr>
            <a:xfrm>
              <a:off x="317150" y="2536675"/>
              <a:ext cx="7660350" cy="34164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87" name="Google Shape;87;p16"/>
            <p:cNvSpPr/>
            <p:nvPr/>
          </p:nvSpPr>
          <p:spPr>
            <a:xfrm>
              <a:off x="256775" y="2815000"/>
              <a:ext cx="3747000" cy="1062900"/>
            </a:xfrm>
            <a:prstGeom prst="rect">
              <a:avLst/>
            </a:prstGeom>
            <a:noFill/>
            <a:ln w="28575" cap="flat" cmpd="sng">
              <a:solidFill>
                <a:srgbClr val="E06666"/>
              </a:solidFill>
              <a:prstDash val="dash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" name="Google Shape;88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19707" y="4997711"/>
              <a:ext cx="2401843" cy="572700"/>
            </a:xfrm>
            <a:prstGeom prst="rect">
              <a:avLst/>
            </a:prstGeom>
            <a:noFill/>
            <a:ln w="19050" cap="flat" cmpd="sng">
              <a:solidFill>
                <a:srgbClr val="CC0000"/>
              </a:solidFill>
              <a:prstDash val="dashDot"/>
              <a:round/>
              <a:headEnd type="none" w="sm" len="sm"/>
              <a:tailEnd type="none" w="sm" len="sm"/>
            </a:ln>
          </p:spPr>
        </p:pic>
        <p:grpSp>
          <p:nvGrpSpPr>
            <p:cNvPr id="89" name="Google Shape;89;p16"/>
            <p:cNvGrpSpPr/>
            <p:nvPr/>
          </p:nvGrpSpPr>
          <p:grpSpPr>
            <a:xfrm>
              <a:off x="3191875" y="2577800"/>
              <a:ext cx="461700" cy="519600"/>
              <a:chOff x="-885075" y="296575"/>
              <a:chExt cx="461700" cy="519600"/>
            </a:xfrm>
          </p:grpSpPr>
          <p:sp>
            <p:nvSpPr>
              <p:cNvPr id="90" name="Google Shape;90;p16"/>
              <p:cNvSpPr/>
              <p:nvPr/>
            </p:nvSpPr>
            <p:spPr>
              <a:xfrm>
                <a:off x="-885075" y="296575"/>
                <a:ext cx="461700" cy="461700"/>
              </a:xfrm>
              <a:prstGeom prst="ellipse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6"/>
              <p:cNvSpPr txBox="1"/>
              <p:nvPr/>
            </p:nvSpPr>
            <p:spPr>
              <a:xfrm>
                <a:off x="-865425" y="296575"/>
                <a:ext cx="422400" cy="5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800" b="1">
                    <a:solidFill>
                      <a:srgbClr val="38761D"/>
                    </a:solidFill>
                  </a:rPr>
                  <a:t>１</a:t>
                </a:r>
                <a:endParaRPr sz="1800" b="1">
                  <a:solidFill>
                    <a:srgbClr val="38761D"/>
                  </a:solidFill>
                </a:endParaRPr>
              </a:p>
            </p:txBody>
          </p:sp>
        </p:grpSp>
        <p:grpSp>
          <p:nvGrpSpPr>
            <p:cNvPr id="92" name="Google Shape;92;p16"/>
            <p:cNvGrpSpPr/>
            <p:nvPr/>
          </p:nvGrpSpPr>
          <p:grpSpPr>
            <a:xfrm>
              <a:off x="6677092" y="4712317"/>
              <a:ext cx="461709" cy="519600"/>
              <a:chOff x="-444033" y="-561508"/>
              <a:chExt cx="461709" cy="519600"/>
            </a:xfrm>
          </p:grpSpPr>
          <p:sp>
            <p:nvSpPr>
              <p:cNvPr id="93" name="Google Shape;93;p16"/>
              <p:cNvSpPr/>
              <p:nvPr/>
            </p:nvSpPr>
            <p:spPr>
              <a:xfrm>
                <a:off x="-444024" y="-532568"/>
                <a:ext cx="461700" cy="461700"/>
              </a:xfrm>
              <a:prstGeom prst="ellipse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16"/>
              <p:cNvSpPr txBox="1"/>
              <p:nvPr/>
            </p:nvSpPr>
            <p:spPr>
              <a:xfrm>
                <a:off x="-444033" y="-561508"/>
                <a:ext cx="422400" cy="5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800" b="1">
                    <a:solidFill>
                      <a:srgbClr val="38761D"/>
                    </a:solidFill>
                  </a:rPr>
                  <a:t>２</a:t>
                </a:r>
                <a:endParaRPr sz="1800" b="1">
                  <a:solidFill>
                    <a:srgbClr val="38761D"/>
                  </a:solidFill>
                </a:endParaRPr>
              </a:p>
            </p:txBody>
          </p:sp>
        </p:grpSp>
        <p:grpSp>
          <p:nvGrpSpPr>
            <p:cNvPr id="95" name="Google Shape;95;p16"/>
            <p:cNvGrpSpPr/>
            <p:nvPr/>
          </p:nvGrpSpPr>
          <p:grpSpPr>
            <a:xfrm>
              <a:off x="3191875" y="2577800"/>
              <a:ext cx="461700" cy="519600"/>
              <a:chOff x="-885075" y="296575"/>
              <a:chExt cx="461700" cy="519600"/>
            </a:xfrm>
          </p:grpSpPr>
          <p:sp>
            <p:nvSpPr>
              <p:cNvPr id="96" name="Google Shape;96;p16"/>
              <p:cNvSpPr/>
              <p:nvPr/>
            </p:nvSpPr>
            <p:spPr>
              <a:xfrm>
                <a:off x="-885075" y="296575"/>
                <a:ext cx="461700" cy="461700"/>
              </a:xfrm>
              <a:prstGeom prst="ellipse">
                <a:avLst/>
              </a:prstGeom>
              <a:solidFill>
                <a:srgbClr val="D9EAD3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6"/>
              <p:cNvSpPr txBox="1"/>
              <p:nvPr/>
            </p:nvSpPr>
            <p:spPr>
              <a:xfrm>
                <a:off x="-885056" y="296575"/>
                <a:ext cx="422400" cy="5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800" b="1">
                    <a:solidFill>
                      <a:srgbClr val="38761D"/>
                    </a:solidFill>
                  </a:rPr>
                  <a:t>１</a:t>
                </a:r>
                <a:endParaRPr sz="1800" b="1">
                  <a:solidFill>
                    <a:srgbClr val="38761D"/>
                  </a:solidFill>
                </a:endParaRPr>
              </a:p>
            </p:txBody>
          </p:sp>
        </p:grpSp>
      </p:grpSp>
      <p:pic>
        <p:nvPicPr>
          <p:cNvPr id="98" name="Google Shape;9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625" y="1632586"/>
            <a:ext cx="6014431" cy="289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/>
          <p:nvPr/>
        </p:nvSpPr>
        <p:spPr>
          <a:xfrm>
            <a:off x="4648725" y="607475"/>
            <a:ext cx="477600" cy="24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6"/>
          <p:cNvSpPr/>
          <p:nvPr/>
        </p:nvSpPr>
        <p:spPr>
          <a:xfrm rot="5400000">
            <a:off x="403000" y="1260945"/>
            <a:ext cx="274500" cy="352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400" b="1"/>
              <a:t>Waiting… 會很久！</a:t>
            </a:r>
            <a:endParaRPr sz="1400" b="1"/>
          </a:p>
        </p:txBody>
      </p:sp>
      <p:pic>
        <p:nvPicPr>
          <p:cNvPr id="106" name="Google Shape;1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16125"/>
            <a:ext cx="8647474" cy="3416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請預先下載避免遇到這個問題</a:t>
            </a:r>
            <a:endParaRPr b="1"/>
          </a:p>
        </p:txBody>
      </p:sp>
      <p:sp>
        <p:nvSpPr>
          <p:cNvPr id="108" name="Google Shape;108;p17"/>
          <p:cNvSpPr txBox="1"/>
          <p:nvPr/>
        </p:nvSpPr>
        <p:spPr>
          <a:xfrm>
            <a:off x="5201525" y="414400"/>
            <a:ext cx="3942600" cy="58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rgbClr val="FF0000"/>
                </a:solidFill>
              </a:rPr>
              <a:t>Error: Microsoft Visual C++ 14.0 or greater is required. </a:t>
            </a:r>
            <a:br>
              <a:rPr lang="zh-TW" sz="1200">
                <a:solidFill>
                  <a:srgbClr val="FF0000"/>
                </a:solidFill>
              </a:rPr>
            </a:br>
            <a:r>
              <a:rPr lang="zh-TW" sz="1200">
                <a:solidFill>
                  <a:srgbClr val="FF0000"/>
                </a:solidFill>
              </a:rPr>
              <a:t>Get it with "Microsoft C++ Build Tools": </a:t>
            </a:r>
            <a:endParaRPr sz="1200">
              <a:solidFill>
                <a:srgbClr val="FF0000"/>
              </a:solidFill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648725" y="607475"/>
            <a:ext cx="477600" cy="24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4CC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準備檔案</a:t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396875" y="3382175"/>
            <a:ext cx="8211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檔案介紹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311700" y="10581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crawler: 爬取碩博士論文的網站，作為推薦委員的參考資料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industry_coop: 產學合作資料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research_proj: 研究計畫資料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output: 輸出的資料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past_data: 過去的資料</a:t>
            </a:r>
            <a:endParaRPr/>
          </a:p>
        </p:txBody>
      </p:sp>
      <p:pic>
        <p:nvPicPr>
          <p:cNvPr id="122" name="Google Shape;122;p19"/>
          <p:cNvPicPr preferRelativeResize="0"/>
          <p:nvPr/>
        </p:nvPicPr>
        <p:blipFill rotWithShape="1">
          <a:blip r:embed="rId3">
            <a:alphaModFix/>
          </a:blip>
          <a:srcRect r="59932"/>
          <a:stretch/>
        </p:blipFill>
        <p:spPr>
          <a:xfrm>
            <a:off x="4611325" y="1989964"/>
            <a:ext cx="4181425" cy="287778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3" name="Google Shape;123;p19"/>
          <p:cNvSpPr txBox="1"/>
          <p:nvPr/>
        </p:nvSpPr>
        <p:spPr>
          <a:xfrm>
            <a:off x="157075" y="3764300"/>
            <a:ext cx="40308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檔案在這：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u="sng">
                <a:solidFill>
                  <a:schemeClr val="hlink"/>
                </a:solidFill>
                <a:hlinkClick r:id="rId4"/>
              </a:rPr>
              <a:t>https://drive.google.com/drive/folders/1uAmfwzAkYV0dGE2VA8u9rmlSrZRJqAtZ?usp=sharing</a:t>
            </a:r>
            <a:r>
              <a:rPr lang="zh-TW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/>
              <a:t>準備的資料</a:t>
            </a:r>
            <a:endParaRPr b="1"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推薦委員有分成兩類：「研究計畫」、「產學合作」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25" y="1761250"/>
            <a:ext cx="8949752" cy="3125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97125" y="3004975"/>
            <a:ext cx="5476500" cy="17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1"/>
                </a:solidFill>
                <a:highlight>
                  <a:srgbClr val="EA9999"/>
                </a:highlight>
                <a:latin typeface="Calibri"/>
                <a:ea typeface="Calibri"/>
                <a:cs typeface="Calibri"/>
                <a:sym typeface="Calibri"/>
              </a:rPr>
              <a:t>Industry_coop = </a:t>
            </a:r>
            <a:r>
              <a:rPr lang="zh-TW" sz="1700">
                <a:solidFill>
                  <a:schemeClr val="dk1"/>
                </a:solidFill>
                <a:highlight>
                  <a:srgbClr val="EA9999"/>
                </a:highlight>
              </a:rPr>
              <a:t>產學合作</a:t>
            </a:r>
            <a:endParaRPr sz="1700">
              <a:solidFill>
                <a:schemeClr val="dk1"/>
              </a:solidFill>
              <a:highlight>
                <a:srgbClr val="EA9999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1"/>
                </a:solidFill>
                <a:highlight>
                  <a:srgbClr val="EA9999"/>
                </a:highlight>
                <a:latin typeface="Calibri"/>
                <a:ea typeface="Calibri"/>
                <a:cs typeface="Calibri"/>
                <a:sym typeface="Calibri"/>
              </a:rPr>
              <a:t>Research_proj = 研究計畫</a:t>
            </a:r>
            <a:endParaRPr sz="1700">
              <a:solidFill>
                <a:schemeClr val="dk1"/>
              </a:solidFill>
              <a:highlight>
                <a:srgbClr val="EA99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也就是說再進行推薦時要先確認是屬於那一類</a:t>
            </a:r>
            <a:br>
              <a:rPr lang="zh-TW" sz="1300">
                <a:solidFill>
                  <a:schemeClr val="dk1"/>
                </a:solidFill>
              </a:rPr>
            </a:br>
            <a:r>
              <a:rPr lang="zh-TW" sz="1300">
                <a:solidFill>
                  <a:schemeClr val="dk1"/>
                </a:solidFill>
              </a:rPr>
              <a:t>推薦委員的來源會有差異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zh-TW" sz="1300">
                <a:solidFill>
                  <a:schemeClr val="dk1"/>
                </a:solidFill>
              </a:rPr>
              <a:t>因此拿到的資料要根據分類放到不同的資料夾中</a:t>
            </a:r>
            <a:r>
              <a:rPr lang="zh-TW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欄位：</a:t>
            </a:r>
            <a:endParaRPr/>
          </a:p>
        </p:txBody>
      </p:sp>
      <p:pic>
        <p:nvPicPr>
          <p:cNvPr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06283"/>
            <a:ext cx="9143999" cy="127458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8" name="Google Shape;138;p21"/>
          <p:cNvSpPr txBox="1"/>
          <p:nvPr/>
        </p:nvSpPr>
        <p:spPr>
          <a:xfrm>
            <a:off x="126000" y="1119675"/>
            <a:ext cx="88182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推薦的依據是倚靠：「計劃名稱」＋「計劃摘要」＋「關鍵字」</a:t>
            </a:r>
            <a:endParaRPr sz="17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700">
                <a:solidFill>
                  <a:schemeClr val="dk2"/>
                </a:solidFill>
              </a:rPr>
              <a:t>篩選的依據是倚靠：「申請人」＋「申請機構」＋「共同申請人」＋「共同申請機構」</a:t>
            </a:r>
            <a:endParaRPr sz="17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若收到的檔案缺少很多，尤其是推薦的依據，請對方補上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否則結果會比較不準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500"/>
              <a:t>開始</a:t>
            </a:r>
            <a:endParaRPr sz="6500"/>
          </a:p>
        </p:txBody>
      </p:sp>
      <p:sp>
        <p:nvSpPr>
          <p:cNvPr id="144" name="Google Shape;144;p22"/>
          <p:cNvSpPr txBox="1"/>
          <p:nvPr/>
        </p:nvSpPr>
        <p:spPr>
          <a:xfrm>
            <a:off x="78800" y="1890100"/>
            <a:ext cx="59373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FF0000"/>
                </a:solidFill>
              </a:rPr>
              <a:t>執行順序一定是：</a:t>
            </a:r>
            <a:endParaRPr sz="2800">
              <a:solidFill>
                <a:srgbClr val="FF0000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AutoNum type="arabicPeriod"/>
            </a:pPr>
            <a:r>
              <a:rPr lang="zh-TW" sz="2800">
                <a:solidFill>
                  <a:srgbClr val="FF0000"/>
                </a:solidFill>
              </a:rPr>
              <a:t>git_pull</a:t>
            </a:r>
            <a:endParaRPr sz="2800">
              <a:solidFill>
                <a:srgbClr val="FF0000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AutoNum type="arabicPeriod"/>
            </a:pPr>
            <a:r>
              <a:rPr lang="zh-TW" sz="2800">
                <a:solidFill>
                  <a:srgbClr val="FF0000"/>
                </a:solidFill>
              </a:rPr>
              <a:t>install_env</a:t>
            </a:r>
            <a:endParaRPr sz="2800">
              <a:solidFill>
                <a:srgbClr val="FF0000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AutoNum type="arabicPeriod"/>
            </a:pPr>
            <a:r>
              <a:rPr lang="zh-TW" sz="2800">
                <a:solidFill>
                  <a:srgbClr val="FF0000"/>
                </a:solidFill>
              </a:rPr>
              <a:t>windows_setting</a:t>
            </a:r>
            <a:endParaRPr sz="2800">
              <a:solidFill>
                <a:srgbClr val="FF0000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AutoNum type="arabicPeriod"/>
            </a:pPr>
            <a:r>
              <a:rPr lang="zh-TW" sz="2800">
                <a:solidFill>
                  <a:srgbClr val="FF0000"/>
                </a:solidFill>
              </a:rPr>
              <a:t>windows</a:t>
            </a:r>
            <a:endParaRPr sz="28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FF0000"/>
                </a:solidFill>
              </a:rPr>
              <a:t>( 如果失敗請按照順序執行看看)</a:t>
            </a:r>
            <a:endParaRPr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Step 1: 更新版本</a:t>
            </a:r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00825"/>
            <a:ext cx="5274644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714875"/>
            <a:ext cx="2544925" cy="5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/>
        </p:nvSpPr>
        <p:spPr>
          <a:xfrm>
            <a:off x="277425" y="1466850"/>
            <a:ext cx="737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在資料夾內，先預先點擊（必須在下載 git 之後 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311700" y="3354650"/>
            <a:ext cx="7370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已經最新了！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154" name="Google Shape;154;p23"/>
          <p:cNvSpPr/>
          <p:nvPr/>
        </p:nvSpPr>
        <p:spPr>
          <a:xfrm rot="5400000">
            <a:off x="306825" y="2060100"/>
            <a:ext cx="556500" cy="46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Step 2: 安裝環境</a:t>
            </a:r>
            <a:endParaRPr/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023675" cy="46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6" y="1629520"/>
            <a:ext cx="3826517" cy="2129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31900" y="3194879"/>
            <a:ext cx="4528475" cy="18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4"/>
          <p:cNvSpPr/>
          <p:nvPr/>
        </p:nvSpPr>
        <p:spPr>
          <a:xfrm rot="2093778">
            <a:off x="3793906" y="3390892"/>
            <a:ext cx="1059268" cy="37666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5335375" y="5005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  <a:highlight>
                  <a:srgbClr val="FCE5CD"/>
                </a:highlight>
              </a:rPr>
              <a:t>直接點擊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Step3: 設定要執行的計劃 </a:t>
            </a:r>
            <a:endParaRPr/>
          </a:p>
        </p:txBody>
      </p:sp>
      <p:pic>
        <p:nvPicPr>
          <p:cNvPr id="170" name="Google Shape;1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23450"/>
            <a:ext cx="8465201" cy="43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864875"/>
            <a:ext cx="6257124" cy="221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 txBox="1"/>
          <p:nvPr/>
        </p:nvSpPr>
        <p:spPr>
          <a:xfrm>
            <a:off x="6754000" y="2656450"/>
            <a:ext cx="1567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zh-TW" sz="1800">
                <a:solidFill>
                  <a:schemeClr val="dk2"/>
                </a:solidFill>
              </a:rPr>
              <a:t>產學合作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zh-TW" sz="1800">
                <a:solidFill>
                  <a:schemeClr val="dk2"/>
                </a:solidFill>
              </a:rPr>
              <a:t>研究計劃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Step3: 設定要執行的計劃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雙擊 windows_setting.bat ，</a:t>
            </a:r>
            <a:br>
              <a:rPr lang="zh-TW"/>
            </a:br>
            <a:r>
              <a:rPr lang="zh-TW"/>
              <a:t>分為「產學合作」、「研究計畫」後，確認項目後按下確認</a:t>
            </a:r>
            <a:endParaRPr/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975" y="1971752"/>
            <a:ext cx="4901100" cy="29100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0" name="Google Shape;18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1675" y="3562425"/>
            <a:ext cx="2781300" cy="14668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1" name="Google Shape;181;p26"/>
          <p:cNvSpPr txBox="1"/>
          <p:nvPr/>
        </p:nvSpPr>
        <p:spPr>
          <a:xfrm>
            <a:off x="4459275" y="44875"/>
            <a:ext cx="46848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900">
                <a:solidFill>
                  <a:srgbClr val="FF0000"/>
                </a:solidFill>
              </a:rPr>
              <a:t>windows_setting.bat </a:t>
            </a:r>
            <a:endParaRPr sz="2900">
              <a:solidFill>
                <a:srgbClr val="FF0000"/>
              </a:solidFill>
            </a:endParaRPr>
          </a:p>
        </p:txBody>
      </p:sp>
      <p:pic>
        <p:nvPicPr>
          <p:cNvPr id="182" name="Google Shape;182;p26"/>
          <p:cNvPicPr preferRelativeResize="0"/>
          <p:nvPr/>
        </p:nvPicPr>
        <p:blipFill rotWithShape="1">
          <a:blip r:embed="rId5">
            <a:alphaModFix/>
          </a:blip>
          <a:srcRect l="1574" r="72059"/>
          <a:stretch/>
        </p:blipFill>
        <p:spPr>
          <a:xfrm>
            <a:off x="878725" y="1090500"/>
            <a:ext cx="2231975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選擇要處理的檔案</a:t>
            </a:r>
            <a:endParaRPr/>
          </a:p>
        </p:txBody>
      </p:sp>
      <p:sp>
        <p:nvSpPr>
          <p:cNvPr id="188" name="Google Shape;188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記得要根據「準備的資料」放在相應的位置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選擇要處理的檔案</a:t>
            </a:r>
            <a:endParaRPr/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550" y="2269600"/>
            <a:ext cx="3695700" cy="20764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0" name="Google Shape;190;p27"/>
          <p:cNvSpPr/>
          <p:nvPr/>
        </p:nvSpPr>
        <p:spPr>
          <a:xfrm>
            <a:off x="4514675" y="2975675"/>
            <a:ext cx="556500" cy="466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1" name="Google Shape;191;p27"/>
          <p:cNvPicPr preferRelativeResize="0"/>
          <p:nvPr/>
        </p:nvPicPr>
        <p:blipFill rotWithShape="1">
          <a:blip r:embed="rId4">
            <a:alphaModFix/>
          </a:blip>
          <a:srcRect r="50985"/>
          <a:stretch/>
        </p:blipFill>
        <p:spPr>
          <a:xfrm>
            <a:off x="5648350" y="1332025"/>
            <a:ext cx="2754551" cy="3162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2" name="Google Shape;192;p27"/>
          <p:cNvSpPr txBox="1"/>
          <p:nvPr/>
        </p:nvSpPr>
        <p:spPr>
          <a:xfrm>
            <a:off x="6144000" y="4487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dk2"/>
                </a:solidFill>
              </a:rPr>
              <a:t>windows_setting.bat 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選擇那個檔案要處理對應的試算表</a:t>
            </a:r>
            <a:endParaRPr/>
          </a:p>
        </p:txBody>
      </p:sp>
      <p:sp>
        <p:nvSpPr>
          <p:cNvPr id="198" name="Google Shape;198;p28"/>
          <p:cNvSpPr txBox="1">
            <a:spLocks noGrp="1"/>
          </p:cNvSpPr>
          <p:nvPr>
            <p:ph type="body" idx="1"/>
          </p:nvPr>
        </p:nvSpPr>
        <p:spPr>
          <a:xfrm>
            <a:off x="3426525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可以多選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9" name="Google Shape;19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888" y="1211888"/>
            <a:ext cx="2790825" cy="31146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0" name="Google Shape;200;p28"/>
          <p:cNvSpPr txBox="1"/>
          <p:nvPr/>
        </p:nvSpPr>
        <p:spPr>
          <a:xfrm>
            <a:off x="6144000" y="4487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dk2"/>
                </a:solidFill>
              </a:rPr>
              <a:t>windows_setting.bat </a:t>
            </a:r>
            <a:endParaRPr sz="2300">
              <a:solidFill>
                <a:schemeClr val="dk2"/>
              </a:solidFill>
            </a:endParaRPr>
          </a:p>
        </p:txBody>
      </p:sp>
      <p:pic>
        <p:nvPicPr>
          <p:cNvPr id="201" name="Google Shape;201;p28"/>
          <p:cNvPicPr preferRelativeResize="0"/>
          <p:nvPr/>
        </p:nvPicPr>
        <p:blipFill rotWithShape="1">
          <a:blip r:embed="rId4">
            <a:alphaModFix/>
          </a:blip>
          <a:srcRect r="76091"/>
          <a:stretch/>
        </p:blipFill>
        <p:spPr>
          <a:xfrm>
            <a:off x="3402575" y="3744125"/>
            <a:ext cx="4337825" cy="64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選擇欄位</a:t>
            </a:r>
            <a:endParaRPr/>
          </a:p>
        </p:txBody>
      </p:sp>
      <p:sp>
        <p:nvSpPr>
          <p:cNvPr id="207" name="Google Shape;207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必填(推薦的主要方法)：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計劃名稱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中文關鍵字</a:t>
            </a:r>
            <a:endParaRPr/>
          </a:p>
        </p:txBody>
      </p:sp>
      <p:pic>
        <p:nvPicPr>
          <p:cNvPr id="208" name="Google Shape;20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5187" y="44875"/>
            <a:ext cx="3293625" cy="4971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09" name="Google Shape;209;p29"/>
          <p:cNvSpPr txBox="1"/>
          <p:nvPr/>
        </p:nvSpPr>
        <p:spPr>
          <a:xfrm>
            <a:off x="6144000" y="4487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dk2"/>
                </a:solidFill>
              </a:rPr>
              <a:t>windows_setting.bat 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選擇欄位 </a:t>
            </a:r>
            <a:r>
              <a:rPr lang="zh-TW" sz="1800">
                <a:solidFill>
                  <a:schemeClr val="dk2"/>
                </a:solidFill>
              </a:rPr>
              <a:t>舉例來說！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5" name="Google Shape;21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06283"/>
            <a:ext cx="9143999" cy="1274584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216" name="Google Shape;216;p30"/>
          <p:cNvCxnSpPr/>
          <p:nvPr/>
        </p:nvCxnSpPr>
        <p:spPr>
          <a:xfrm>
            <a:off x="259525" y="2422325"/>
            <a:ext cx="0" cy="59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" name="Google Shape;217;p30"/>
          <p:cNvSpPr txBox="1"/>
          <p:nvPr/>
        </p:nvSpPr>
        <p:spPr>
          <a:xfrm>
            <a:off x="42000" y="2005475"/>
            <a:ext cx="453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計劃名稱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18" name="Google Shape;218;p30"/>
          <p:cNvCxnSpPr/>
          <p:nvPr/>
        </p:nvCxnSpPr>
        <p:spPr>
          <a:xfrm>
            <a:off x="1197225" y="1590875"/>
            <a:ext cx="0" cy="145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9" name="Google Shape;219;p30"/>
          <p:cNvSpPr txBox="1"/>
          <p:nvPr/>
        </p:nvSpPr>
        <p:spPr>
          <a:xfrm>
            <a:off x="807000" y="1165300"/>
            <a:ext cx="94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申請機構</a:t>
            </a:r>
            <a:endParaRPr/>
          </a:p>
        </p:txBody>
      </p:sp>
      <p:cxnSp>
        <p:nvCxnSpPr>
          <p:cNvPr id="220" name="Google Shape;220;p30"/>
          <p:cNvCxnSpPr/>
          <p:nvPr/>
        </p:nvCxnSpPr>
        <p:spPr>
          <a:xfrm>
            <a:off x="1587725" y="2340725"/>
            <a:ext cx="0" cy="70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1" name="Google Shape;221;p30"/>
          <p:cNvSpPr txBox="1"/>
          <p:nvPr/>
        </p:nvSpPr>
        <p:spPr>
          <a:xfrm>
            <a:off x="1327425" y="1888375"/>
            <a:ext cx="1197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計劃主持人</a:t>
            </a:r>
            <a:endParaRPr/>
          </a:p>
        </p:txBody>
      </p:sp>
      <p:cxnSp>
        <p:nvCxnSpPr>
          <p:cNvPr id="222" name="Google Shape;222;p30"/>
          <p:cNvCxnSpPr/>
          <p:nvPr/>
        </p:nvCxnSpPr>
        <p:spPr>
          <a:xfrm>
            <a:off x="2839550" y="1783400"/>
            <a:ext cx="0" cy="128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3" name="Google Shape;223;p30"/>
          <p:cNvSpPr txBox="1"/>
          <p:nvPr/>
        </p:nvSpPr>
        <p:spPr>
          <a:xfrm>
            <a:off x="2524725" y="1350025"/>
            <a:ext cx="94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計劃名稱</a:t>
            </a:r>
            <a:endParaRPr/>
          </a:p>
        </p:txBody>
      </p:sp>
      <p:cxnSp>
        <p:nvCxnSpPr>
          <p:cNvPr id="224" name="Google Shape;224;p30"/>
          <p:cNvCxnSpPr/>
          <p:nvPr/>
        </p:nvCxnSpPr>
        <p:spPr>
          <a:xfrm>
            <a:off x="3863375" y="2467375"/>
            <a:ext cx="0" cy="57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5" name="Google Shape;225;p30"/>
          <p:cNvSpPr txBox="1"/>
          <p:nvPr/>
        </p:nvSpPr>
        <p:spPr>
          <a:xfrm>
            <a:off x="3470625" y="2000975"/>
            <a:ext cx="99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計劃摘要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選擇欄位</a:t>
            </a:r>
            <a:endParaRPr/>
          </a:p>
        </p:txBody>
      </p:sp>
      <p:sp>
        <p:nvSpPr>
          <p:cNvPr id="231" name="Google Shape;231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zh-TW" b="1"/>
              <a:t>計劃名稱</a:t>
            </a:r>
            <a:r>
              <a:rPr lang="zh-TW"/>
              <a:t>：要申請計劃名稱的欄位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 b="1"/>
              <a:t>中文關鍵字</a:t>
            </a:r>
            <a:r>
              <a:rPr lang="zh-TW"/>
              <a:t>：計劃專業的關鍵字的欄位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zh-TW" b="1"/>
              <a:t>計劃摘要：</a:t>
            </a:r>
            <a:r>
              <a:rPr lang="zh-TW"/>
              <a:t>關於計劃的摘要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zh-TW" b="1"/>
              <a:t>申請機構</a:t>
            </a:r>
            <a:r>
              <a:rPr lang="zh-TW"/>
              <a:t>：來自於哪裡申請的學校的欄位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zh-TW" b="1"/>
              <a:t>計劃主持人</a:t>
            </a:r>
            <a:r>
              <a:rPr lang="zh-TW"/>
              <a:t>：申請人名稱的欄位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zh-TW" b="1"/>
              <a:t>計畫相關其他欄位 </a:t>
            </a:r>
            <a:r>
              <a:rPr lang="zh-TW"/>
              <a:t>：不影響結果，</a:t>
            </a:r>
            <a:br>
              <a:rPr lang="zh-TW"/>
            </a:br>
            <a:r>
              <a:rPr lang="zh-TW"/>
              <a:t>但是可以</a:t>
            </a:r>
            <a:r>
              <a:rPr lang="zh-TW">
                <a:highlight>
                  <a:srgbClr val="FFF2CC"/>
                </a:highlight>
              </a:rPr>
              <a:t>附帶在輸出的結果裡面，方便閱讀</a:t>
            </a:r>
            <a:endParaRPr>
              <a:highlight>
                <a:srgbClr val="FFF2CC"/>
              </a:highlight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zh-TW" b="1"/>
              <a:t>共同計劃主持人</a:t>
            </a:r>
            <a:r>
              <a:rPr lang="zh-TW"/>
              <a:t>：</a:t>
            </a:r>
            <a:br>
              <a:rPr lang="zh-TW"/>
            </a:br>
            <a:r>
              <a:rPr lang="zh-TW"/>
              <a:t>除了計劃主持人的一同申請的申請人</a:t>
            </a:r>
            <a:endParaRPr/>
          </a:p>
          <a:p>
            <a:pPr marL="457200" lvl="0" indent="-342900" algn="l" rtl="0">
              <a:spcBef>
                <a:spcPts val="1000"/>
              </a:spcBef>
              <a:spcAft>
                <a:spcPts val="1200"/>
              </a:spcAft>
              <a:buSzPts val="1800"/>
              <a:buChar char="●"/>
            </a:pPr>
            <a:r>
              <a:rPr lang="zh-TW" b="1"/>
              <a:t>共同機構</a:t>
            </a:r>
            <a:r>
              <a:rPr lang="zh-TW"/>
              <a:t>：除了申請機構一同申請的機構</a:t>
            </a:r>
            <a:endParaRPr/>
          </a:p>
        </p:txBody>
      </p:sp>
      <p:pic>
        <p:nvPicPr>
          <p:cNvPr id="232" name="Google Shape;23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0011" y="445025"/>
            <a:ext cx="3085840" cy="46574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33" name="Google Shape;233;p31"/>
          <p:cNvSpPr txBox="1"/>
          <p:nvPr/>
        </p:nvSpPr>
        <p:spPr>
          <a:xfrm>
            <a:off x="6144000" y="4487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>
                <a:solidFill>
                  <a:schemeClr val="dk2"/>
                </a:solidFill>
              </a:rPr>
              <a:t>windows_setting.bat </a:t>
            </a: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Step 4: 執行檔案，雙擊 windows.bat</a:t>
            </a:r>
            <a:endParaRPr/>
          </a:p>
        </p:txBody>
      </p:sp>
      <p:sp>
        <p:nvSpPr>
          <p:cNvPr id="239" name="Google Shape;239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可能會需要等待一點時間....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2. 存入資料庫（更新資料庫）：</a:t>
            </a:r>
            <a:br>
              <a:rPr lang="zh-TW"/>
            </a:br>
            <a:r>
              <a:rPr lang="zh-TW"/>
              <a:t>若已經匯入就不用選擇(預設已經匯入)，並且要確保記憶體空間超過 16GB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rgbClr val="FF0000"/>
                </a:solidFill>
              </a:rPr>
              <a:t>3. 輸出推薦委員：保證資料都已經匯入就可以輸出檔案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6144000" y="4487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00"/>
                </a:solidFill>
              </a:rPr>
              <a:t>windows.bat </a:t>
            </a:r>
            <a:endParaRPr sz="3600">
              <a:solidFill>
                <a:srgbClr val="FF0000"/>
              </a:solidFill>
            </a:endParaRPr>
          </a:p>
        </p:txBody>
      </p:sp>
      <p:pic>
        <p:nvPicPr>
          <p:cNvPr id="241" name="Google Shape;24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350" y="2918275"/>
            <a:ext cx="7162800" cy="2057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輸出的檔案</a:t>
            </a:r>
            <a:endParaRPr/>
          </a:p>
        </p:txBody>
      </p:sp>
      <p:sp>
        <p:nvSpPr>
          <p:cNvPr id="247" name="Google Shape;247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可以主要看 推薦表統合_VBA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=&gt; ./data/output/...</a:t>
            </a:r>
            <a:endParaRPr/>
          </a:p>
        </p:txBody>
      </p:sp>
      <p:pic>
        <p:nvPicPr>
          <p:cNvPr id="248" name="Google Shape;24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1013" y="2179175"/>
            <a:ext cx="6391275" cy="27813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可能問題</a:t>
            </a:r>
            <a:endParaRPr/>
          </a:p>
        </p:txBody>
      </p:sp>
      <p:sp>
        <p:nvSpPr>
          <p:cNvPr id="254" name="Google Shape;254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如果遇到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[Errno 13] Permission denied:....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就代表你可能開著 EXCEL 記得關掉，東西都關掉後重開看看！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原理</a:t>
            </a:r>
            <a:endParaRPr/>
          </a:p>
        </p:txBody>
      </p:sp>
      <p:sp>
        <p:nvSpPr>
          <p:cNvPr id="260" name="Google Shape;260;p35"/>
          <p:cNvSpPr txBox="1"/>
          <p:nvPr/>
        </p:nvSpPr>
        <p:spPr>
          <a:xfrm>
            <a:off x="396875" y="3382175"/>
            <a:ext cx="8211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WorkFlow</a:t>
            </a:r>
            <a:endParaRPr/>
          </a:p>
        </p:txBody>
      </p:sp>
      <p:pic>
        <p:nvPicPr>
          <p:cNvPr id="266" name="Google Shape;26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0" cy="3527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865</Words>
  <Application>Microsoft Office PowerPoint</Application>
  <PresentationFormat>如螢幕大小 (16:9)</PresentationFormat>
  <Paragraphs>101</Paragraphs>
  <Slides>24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7" baseType="lpstr">
      <vt:lpstr>Arial</vt:lpstr>
      <vt:lpstr>Calibri</vt:lpstr>
      <vt:lpstr>Simple Light</vt:lpstr>
      <vt:lpstr>國科會計畫審查委員推薦系統操作手冊</vt:lpstr>
      <vt:lpstr>前置準備</vt:lpstr>
      <vt:lpstr>下載 Git</vt:lpstr>
      <vt:lpstr>請預先下載避免遇到這個問題</vt:lpstr>
      <vt:lpstr>請預先下載避免遇到這個問題</vt:lpstr>
      <vt:lpstr>準備檔案</vt:lpstr>
      <vt:lpstr>檔案介紹</vt:lpstr>
      <vt:lpstr>準備的資料</vt:lpstr>
      <vt:lpstr>欄位：</vt:lpstr>
      <vt:lpstr>開始</vt:lpstr>
      <vt:lpstr>Step 1: 更新版本</vt:lpstr>
      <vt:lpstr>Step 2: 安裝環境</vt:lpstr>
      <vt:lpstr>Step3: 設定要執行的計劃 </vt:lpstr>
      <vt:lpstr>Step3: 設定要執行的計劃   </vt:lpstr>
      <vt:lpstr>選擇要處理的檔案</vt:lpstr>
      <vt:lpstr>選擇那個檔案要處理對應的試算表</vt:lpstr>
      <vt:lpstr>選擇欄位</vt:lpstr>
      <vt:lpstr>選擇欄位 舉例來說！  </vt:lpstr>
      <vt:lpstr>選擇欄位</vt:lpstr>
      <vt:lpstr>Step 4: 執行檔案，雙擊 windows.bat</vt:lpstr>
      <vt:lpstr>輸出的檔案</vt:lpstr>
      <vt:lpstr>可能問題</vt:lpstr>
      <vt:lpstr>原理</vt:lpstr>
      <vt:lpstr>WorkFlow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陳雅惠  (vicky945)</cp:lastModifiedBy>
  <cp:revision>1</cp:revision>
  <dcterms:modified xsi:type="dcterms:W3CDTF">2025-06-18T03:52:24Z</dcterms:modified>
</cp:coreProperties>
</file>