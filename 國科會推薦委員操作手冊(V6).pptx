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9" roundtripDataSignature="AMtx7mi8nMbB76oq5xbiCM8hIr1NiWrjUg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3" name="Chia-Hui Chang"/>
  <p:cmAuthor clrIdx="1" id="1" initials="" lastIdx="3" name="黃懷萱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customschemas.google.com/relationships/presentationmetadata" Target="metadata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5-06-17T18:17:07.747">
    <p:pos x="98" y="2371"/>
    <p:text>有何快速的方法可以下載?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U"/>
      </p:ext>
    </p:extLst>
  </p:cm>
  <p:cm authorId="1" idx="1" dt="2025-06-17T18:17:07.747">
    <p:pos x="98" y="2371"/>
    <p:text>老師好，目前沒辦法避免環境安裝的問題，已目前專案來說只有兩個路線
1. 整包檔案（下載較久），但可以直接使用
2. 簡易檔案，但使用者需要自己下載套件（可以比較快完成，但是需要使用者自行操作指令，可能會遇到問題）
若要可以很快速的安裝檔案，有某些架構需要重新調整，可能要花不少時間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1" idx="2" dt="2025-05-01T08:30:27.587">
    <p:pos x="96" y="737"/>
    <p:text>檔案都在 P2 的下載連結裡面有附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4"/>
      </p:ext>
    </p:extLst>
  </p:cm>
  <p:cm authorId="0" idx="2" dt="2025-05-01T09:43:56.166">
    <p:pos x="96" y="737"/>
    <p:text>P2是指?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w"/>
      </p:ext>
    </p:extLst>
  </p:cm>
  <p:cm authorId="0" idx="3" dt="2025-05-01T11:30:51.519">
    <p:pos x="96" y="737"/>
    <p:text>有原始檔嗎?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Y"/>
      </p:ext>
    </p:extLst>
  </p:cm>
  <p:cm authorId="1" idx="3" dt="2025-05-01T11:30:51.519">
    <p:pos x="96" y="737"/>
    <p:text>第二頁的下載連結裡面
有附程式碼與資料原始檔案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Q"/>
      </p:ext>
    </p:extLs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8188b94b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g3f8188b94b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4f89e88cb_0_1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4f89e88cb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0" name="Google Shape;18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81f8ff915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" name="Google Shape;200;g3f81f8ff915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4" name="Google Shape;254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5" name="Google Shape;28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f4f89e88cb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g3f4f89e88c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f4f89e88c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g3f4f89e88c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f4f89e88cb_0_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7" name="Google Shape;317;g3f4f89e88cb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f4f89e88cb_0_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9" name="Google Shape;329;g3f4f89e88cb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f4f89e88cb_0_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2" name="Google Shape;342;g3f4f89e88cb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f4f89e88cb_0_8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7" name="Google Shape;357;g3f4f89e88cb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3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3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3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hub.com/AnnaChen1228/MOST_committee.gi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hyperlink" Target="https://git-scm.com/downloads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22.png"/><Relationship Id="rId5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0.png"/><Relationship Id="rId4" Type="http://schemas.openxmlformats.org/officeDocument/2006/relationships/hyperlink" Target="https://www.python.org/downloads/release/python-31011/" TargetMode="External"/><Relationship Id="rId5" Type="http://schemas.openxmlformats.org/officeDocument/2006/relationships/image" Target="../media/image3.png"/><Relationship Id="rId6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drive.google.com/drive/folders/1vmnuAJUWGayN9tZjgvZjtRdlW6-VX_Xg?usp=sharing" TargetMode="External"/><Relationship Id="rId4" Type="http://schemas.openxmlformats.org/officeDocument/2006/relationships/image" Target="../media/image39.png"/><Relationship Id="rId5" Type="http://schemas.openxmlformats.org/officeDocument/2006/relationships/image" Target="../media/image27.png"/><Relationship Id="rId6" Type="http://schemas.openxmlformats.org/officeDocument/2006/relationships/image" Target="../media/image3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comments" Target="../comments/comment1.xml"/><Relationship Id="rId4" Type="http://schemas.openxmlformats.org/officeDocument/2006/relationships/image" Target="../media/image6.png"/><Relationship Id="rId5" Type="http://schemas.openxmlformats.org/officeDocument/2006/relationships/hyperlink" Target="https://drive.google.com/drive/folders/1yrLFD6SsjqOV3T37nAB6LskgI7o_EG7c?usp=sharin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3.png"/><Relationship Id="rId4" Type="http://schemas.openxmlformats.org/officeDocument/2006/relationships/image" Target="../media/image28.png"/><Relationship Id="rId5" Type="http://schemas.openxmlformats.org/officeDocument/2006/relationships/image" Target="../media/image45.png"/><Relationship Id="rId6" Type="http://schemas.openxmlformats.org/officeDocument/2006/relationships/image" Target="../media/image2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2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Relationship Id="rId5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Relationship Id="rId4" Type="http://schemas.openxmlformats.org/officeDocument/2006/relationships/image" Target="../media/image2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Relationship Id="rId4" Type="http://schemas.openxmlformats.org/officeDocument/2006/relationships/image" Target="../media/image2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2.png"/><Relationship Id="rId4" Type="http://schemas.openxmlformats.org/officeDocument/2006/relationships/image" Target="../media/image3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5.png"/><Relationship Id="rId4" Type="http://schemas.openxmlformats.org/officeDocument/2006/relationships/image" Target="../media/image4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8.png"/><Relationship Id="rId4" Type="http://schemas.openxmlformats.org/officeDocument/2006/relationships/image" Target="../media/image34.png"/><Relationship Id="rId5" Type="http://schemas.openxmlformats.org/officeDocument/2006/relationships/image" Target="../media/image3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comments" Target="../comments/comment2.xml"/><Relationship Id="rId4" Type="http://schemas.openxmlformats.org/officeDocument/2006/relationships/image" Target="../media/image31.png"/><Relationship Id="rId5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311700" y="744575"/>
            <a:ext cx="86388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000"/>
              <a:t>國科會計畫審查委員推薦系統操作手冊</a:t>
            </a:r>
            <a:endParaRPr sz="6000"/>
          </a:p>
        </p:txBody>
      </p:sp>
      <p:sp>
        <p:nvSpPr>
          <p:cNvPr id="55" name="Google Shape;55;p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 sz="2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https://github.com/AnnaChen1228/MOST_committee.git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7200"/>
              <a:t>前置準備</a:t>
            </a:r>
            <a:endParaRPr sz="7200"/>
          </a:p>
        </p:txBody>
      </p:sp>
      <p:sp>
        <p:nvSpPr>
          <p:cNvPr id="61" name="Google Shape;61;p2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2"/>
          <p:cNvSpPr txBox="1"/>
          <p:nvPr/>
        </p:nvSpPr>
        <p:spPr>
          <a:xfrm>
            <a:off x="21450" y="2912600"/>
            <a:ext cx="91227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下載連結： </a:t>
            </a:r>
            <a:r>
              <a:rPr b="0" i="0" lang="zh-TW" sz="43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第六版</a:t>
            </a:r>
            <a:b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2025/04/06 更新，過去版本請記得更新</a:t>
            </a:r>
            <a:endParaRPr b="0" i="0" sz="26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5646" y="1571601"/>
            <a:ext cx="4769749" cy="18227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8" name="Google Shape;68;p3"/>
          <p:cNvSpPr txBox="1"/>
          <p:nvPr>
            <p:ph type="title"/>
          </p:nvPr>
        </p:nvSpPr>
        <p:spPr>
          <a:xfrm>
            <a:off x="301250" y="361925"/>
            <a:ext cx="158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下載 Git</a:t>
            </a:r>
            <a:endParaRPr b="1"/>
          </a:p>
        </p:txBody>
      </p:sp>
      <p:pic>
        <p:nvPicPr>
          <p:cNvPr id="69" name="Google Shape;69;p3"/>
          <p:cNvPicPr preferRelativeResize="0"/>
          <p:nvPr/>
        </p:nvPicPr>
        <p:blipFill rotWithShape="1">
          <a:blip r:embed="rId4">
            <a:alphaModFix/>
          </a:blip>
          <a:srcRect b="0" l="0" r="69102" t="0"/>
          <a:stretch/>
        </p:blipFill>
        <p:spPr>
          <a:xfrm>
            <a:off x="1508725" y="4047500"/>
            <a:ext cx="1774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06075" y="2161279"/>
            <a:ext cx="3634050" cy="2852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71" name="Google Shape;71;p3"/>
          <p:cNvSpPr txBox="1"/>
          <p:nvPr/>
        </p:nvSpPr>
        <p:spPr>
          <a:xfrm>
            <a:off x="1718075" y="278825"/>
            <a:ext cx="4359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在資料夾內，先預先下載！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可以</a:t>
            </a:r>
            <a:r>
              <a:rPr b="0" i="0" lang="zh-TW" sz="1800" u="sng" cap="none" strike="noStrike">
                <a:solidFill>
                  <a:schemeClr val="hlink"/>
                </a:solidFill>
                <a:highlight>
                  <a:srgbClr val="FFF2CC"/>
                </a:highlight>
                <a:latin typeface="Arial"/>
                <a:ea typeface="Arial"/>
                <a:cs typeface="Arial"/>
                <a:sym typeface="Arial"/>
                <a:hlinkClick r:id="rId6"/>
              </a:rPr>
              <a:t>連結</a:t>
            </a: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下載最新版本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 rot="5400000">
            <a:off x="1911225" y="1326275"/>
            <a:ext cx="969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48700" y="2133750"/>
            <a:ext cx="1897800" cy="6063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"/>
          <p:cNvSpPr txBox="1"/>
          <p:nvPr/>
        </p:nvSpPr>
        <p:spPr>
          <a:xfrm>
            <a:off x="2525250" y="1119675"/>
            <a:ext cx="2697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Note: 選擇屬於你的作業系統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 rot="5400000">
            <a:off x="2157225" y="3532625"/>
            <a:ext cx="477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355025" y="4023650"/>
            <a:ext cx="18204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3290825" y="4267225"/>
            <a:ext cx="1948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 一直按下去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請預先下載避免遇到這個問題</a:t>
            </a:r>
            <a:endParaRPr b="1"/>
          </a:p>
        </p:txBody>
      </p:sp>
      <p:sp>
        <p:nvSpPr>
          <p:cNvPr id="83" name="Google Shape;83;p4"/>
          <p:cNvSpPr txBox="1"/>
          <p:nvPr>
            <p:ph idx="1" type="body"/>
          </p:nvPr>
        </p:nvSpPr>
        <p:spPr>
          <a:xfrm>
            <a:off x="332625" y="957750"/>
            <a:ext cx="8520600" cy="4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325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ct val="395604"/>
              <a:buNone/>
            </a:pPr>
            <a:r>
              <a:rPr b="1" lang="zh-TW" sz="1400"/>
              <a:t>下載連結: https://visualstudio.microsoft.com/zh-hant/visual-cpp-build-tools/ </a:t>
            </a:r>
            <a:endParaRPr b="1" sz="1400"/>
          </a:p>
        </p:txBody>
      </p:sp>
      <p:sp>
        <p:nvSpPr>
          <p:cNvPr id="84" name="Google Shape;84;p4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b="0" i="0" sz="12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" name="Google Shape;85;p4"/>
          <p:cNvGrpSpPr/>
          <p:nvPr/>
        </p:nvGrpSpPr>
        <p:grpSpPr>
          <a:xfrm>
            <a:off x="337856" y="1921880"/>
            <a:ext cx="8057678" cy="3036838"/>
            <a:chOff x="256775" y="2536675"/>
            <a:chExt cx="9064775" cy="3416400"/>
          </a:xfrm>
        </p:grpSpPr>
        <p:pic>
          <p:nvPicPr>
            <p:cNvPr id="86" name="Google Shape;86;p4"/>
            <p:cNvPicPr preferRelativeResize="0"/>
            <p:nvPr/>
          </p:nvPicPr>
          <p:blipFill rotWithShape="1">
            <a:blip r:embed="rId3">
              <a:alphaModFix/>
            </a:blip>
            <a:srcRect b="0" l="1146" r="0" t="0"/>
            <a:stretch/>
          </p:blipFill>
          <p:spPr>
            <a:xfrm>
              <a:off x="317150" y="2536675"/>
              <a:ext cx="7660350" cy="3416400"/>
            </a:xfrm>
            <a:prstGeom prst="rect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</p:pic>
        <p:sp>
          <p:nvSpPr>
            <p:cNvPr id="87" name="Google Shape;87;p4"/>
            <p:cNvSpPr/>
            <p:nvPr/>
          </p:nvSpPr>
          <p:spPr>
            <a:xfrm>
              <a:off x="256775" y="2815000"/>
              <a:ext cx="3747000" cy="1062900"/>
            </a:xfrm>
            <a:prstGeom prst="rect">
              <a:avLst/>
            </a:prstGeom>
            <a:noFill/>
            <a:ln cap="flat" cmpd="sng" w="28575">
              <a:solidFill>
                <a:srgbClr val="E06666"/>
              </a:solidFill>
              <a:prstDash val="dashDot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88" name="Google Shape;88;p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919707" y="4997711"/>
              <a:ext cx="2401843" cy="572700"/>
            </a:xfrm>
            <a:prstGeom prst="rect">
              <a:avLst/>
            </a:prstGeom>
            <a:noFill/>
            <a:ln cap="flat" cmpd="sng" w="19050">
              <a:solidFill>
                <a:srgbClr val="CC0000"/>
              </a:solidFill>
              <a:prstDash val="dashDot"/>
              <a:round/>
              <a:headEnd len="sm" w="sm" type="none"/>
              <a:tailEnd len="sm" w="sm" type="none"/>
            </a:ln>
          </p:spPr>
        </p:pic>
        <p:grpSp>
          <p:nvGrpSpPr>
            <p:cNvPr id="89" name="Google Shape;89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0" name="Google Shape;90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" name="Google Shape;91;p4"/>
              <p:cNvSpPr txBox="1"/>
              <p:nvPr/>
            </p:nvSpPr>
            <p:spPr>
              <a:xfrm>
                <a:off x="-865425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92;p4"/>
            <p:cNvGrpSpPr/>
            <p:nvPr/>
          </p:nvGrpSpPr>
          <p:grpSpPr>
            <a:xfrm>
              <a:off x="6677092" y="4712317"/>
              <a:ext cx="461709" cy="519600"/>
              <a:chOff x="-444033" y="-561508"/>
              <a:chExt cx="461709" cy="519600"/>
            </a:xfrm>
          </p:grpSpPr>
          <p:sp>
            <p:nvSpPr>
              <p:cNvPr id="93" name="Google Shape;93;p4"/>
              <p:cNvSpPr/>
              <p:nvPr/>
            </p:nvSpPr>
            <p:spPr>
              <a:xfrm>
                <a:off x="-444024" y="-532568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" name="Google Shape;94;p4"/>
              <p:cNvSpPr txBox="1"/>
              <p:nvPr/>
            </p:nvSpPr>
            <p:spPr>
              <a:xfrm>
                <a:off x="-444033" y="-561508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２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95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6" name="Google Shape;96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" name="Google Shape;97;p4"/>
              <p:cNvSpPr txBox="1"/>
              <p:nvPr/>
            </p:nvSpPr>
            <p:spPr>
              <a:xfrm>
                <a:off x="-885056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98" name="Google Shape;9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2625" y="1632586"/>
            <a:ext cx="6014431" cy="2892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4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4"/>
          <p:cNvSpPr/>
          <p:nvPr/>
        </p:nvSpPr>
        <p:spPr>
          <a:xfrm rot="5400000">
            <a:off x="403000" y="1260945"/>
            <a:ext cx="2745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b="1" lang="zh-TW" sz="1400"/>
              <a:t>Waiting… 會很久！</a:t>
            </a:r>
            <a:endParaRPr b="1" sz="1400"/>
          </a:p>
        </p:txBody>
      </p:sp>
      <p:pic>
        <p:nvPicPr>
          <p:cNvPr id="106" name="Google Shape;10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616125"/>
            <a:ext cx="8647474" cy="3416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7" name="Google Shape;107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請預先下載避免遇到這個問題</a:t>
            </a:r>
            <a:endParaRPr b="1"/>
          </a:p>
        </p:txBody>
      </p:sp>
      <p:sp>
        <p:nvSpPr>
          <p:cNvPr id="108" name="Google Shape;108;p5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b="0" i="0" sz="12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g3f8188b94b7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1650" y="1634351"/>
            <a:ext cx="4843490" cy="231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f8188b94b7_0_0"/>
          <p:cNvSpPr txBox="1"/>
          <p:nvPr>
            <p:ph type="title"/>
          </p:nvPr>
        </p:nvSpPr>
        <p:spPr>
          <a:xfrm>
            <a:off x="301250" y="361925"/>
            <a:ext cx="158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下載 python 3.10.11</a:t>
            </a:r>
            <a:endParaRPr b="1"/>
          </a:p>
        </p:txBody>
      </p:sp>
      <p:sp>
        <p:nvSpPr>
          <p:cNvPr id="116" name="Google Shape;116;g3f8188b94b7_0_0"/>
          <p:cNvSpPr txBox="1"/>
          <p:nvPr/>
        </p:nvSpPr>
        <p:spPr>
          <a:xfrm>
            <a:off x="1725550" y="409600"/>
            <a:ext cx="4359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>
                <a:solidFill>
                  <a:schemeClr val="dk2"/>
                </a:solidFill>
              </a:rPr>
              <a:t>下載 </a:t>
            </a:r>
            <a:r>
              <a:rPr lang="zh-TW" sz="1800" u="sng">
                <a:solidFill>
                  <a:schemeClr val="hlink"/>
                </a:solidFill>
                <a:hlinkClick r:id="rId4"/>
              </a:rPr>
              <a:t>python 3.10.11</a:t>
            </a:r>
            <a:r>
              <a:rPr lang="zh-TW" sz="1800">
                <a:solidFill>
                  <a:schemeClr val="dk2"/>
                </a:solidFill>
              </a:rPr>
              <a:t> 到電腦中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g3f8188b94b7_0_0"/>
          <p:cNvSpPr/>
          <p:nvPr/>
        </p:nvSpPr>
        <p:spPr>
          <a:xfrm rot="5400000">
            <a:off x="1911225" y="1326275"/>
            <a:ext cx="969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g3f8188b94b7_0_0"/>
          <p:cNvSpPr/>
          <p:nvPr/>
        </p:nvSpPr>
        <p:spPr>
          <a:xfrm>
            <a:off x="321975" y="3055600"/>
            <a:ext cx="4686900" cy="4155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g3f8188b94b7_0_0"/>
          <p:cNvSpPr txBox="1"/>
          <p:nvPr/>
        </p:nvSpPr>
        <p:spPr>
          <a:xfrm>
            <a:off x="2525250" y="1119675"/>
            <a:ext cx="2697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Note: 選擇屬於你的作業系統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g3f8188b94b7_0_0"/>
          <p:cNvSpPr/>
          <p:nvPr/>
        </p:nvSpPr>
        <p:spPr>
          <a:xfrm rot="5400000">
            <a:off x="2157225" y="3583050"/>
            <a:ext cx="477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f8188b94b7_0_0"/>
          <p:cNvSpPr/>
          <p:nvPr/>
        </p:nvSpPr>
        <p:spPr>
          <a:xfrm>
            <a:off x="3355025" y="4023650"/>
            <a:ext cx="18204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f8188b94b7_0_0"/>
          <p:cNvSpPr txBox="1"/>
          <p:nvPr/>
        </p:nvSpPr>
        <p:spPr>
          <a:xfrm>
            <a:off x="3290825" y="4267225"/>
            <a:ext cx="1948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 一直按下去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f8188b94b7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34013" y="4047500"/>
            <a:ext cx="1724025" cy="276225"/>
          </a:xfrm>
          <a:prstGeom prst="rect">
            <a:avLst/>
          </a:prstGeom>
          <a:noFill/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24" name="Google Shape;124;g3f8188b94b7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12875" y="2719275"/>
            <a:ext cx="3663775" cy="2330078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g3f8188b94b7_0_0"/>
          <p:cNvSpPr/>
          <p:nvPr/>
        </p:nvSpPr>
        <p:spPr>
          <a:xfrm>
            <a:off x="6384578" y="3471100"/>
            <a:ext cx="1899000" cy="5271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準備檔案</a:t>
            </a:r>
            <a:endParaRPr/>
          </a:p>
        </p:txBody>
      </p:sp>
      <p:sp>
        <p:nvSpPr>
          <p:cNvPr id="131" name="Google Shape;131;p6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f4f89e88cb_0_10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下載後直接放入資料夾中</a:t>
            </a:r>
            <a:endParaRPr/>
          </a:p>
        </p:txBody>
      </p:sp>
      <p:sp>
        <p:nvSpPr>
          <p:cNvPr id="137" name="Google Shape;137;g3f4f89e88cb_0_105"/>
          <p:cNvSpPr txBox="1"/>
          <p:nvPr>
            <p:ph idx="1" type="body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4f89e88cb_0_105"/>
          <p:cNvSpPr txBox="1"/>
          <p:nvPr/>
        </p:nvSpPr>
        <p:spPr>
          <a:xfrm>
            <a:off x="157075" y="3764300"/>
            <a:ext cx="4030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檔案在這：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https://drive.google.com/drive/folders/1vmnuAJUWGayN9tZjgvZjtRdlW6-VX_Xg?usp=sharing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Google Shape;139;g3f4f89e88cb_0_105" title="截圖 2026-07-13 15.22.57.png"/>
          <p:cNvPicPr preferRelativeResize="0"/>
          <p:nvPr/>
        </p:nvPicPr>
        <p:blipFill rotWithShape="1">
          <a:blip r:embed="rId4">
            <a:alphaModFix/>
          </a:blip>
          <a:srcRect b="0" l="0" r="70532" t="0"/>
          <a:stretch/>
        </p:blipFill>
        <p:spPr>
          <a:xfrm>
            <a:off x="377550" y="2065575"/>
            <a:ext cx="2694575" cy="1764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g3f4f89e88cb_0_105" title="截圖 2026-07-13 15.23.1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48086" y="3353121"/>
            <a:ext cx="2836560" cy="165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g3f4f89e88cb_0_105" title="截圖 2026-07-13 15.23.4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84825" y="1017725"/>
            <a:ext cx="2871375" cy="2230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2" name="Google Shape;142;g3f4f89e88cb_0_105"/>
          <p:cNvCxnSpPr/>
          <p:nvPr/>
        </p:nvCxnSpPr>
        <p:spPr>
          <a:xfrm flipH="1" rot="10800000">
            <a:off x="3072125" y="2102300"/>
            <a:ext cx="1396500" cy="845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3" name="Google Shape;143;g3f4f89e88cb_0_105"/>
          <p:cNvSpPr/>
          <p:nvPr/>
        </p:nvSpPr>
        <p:spPr>
          <a:xfrm>
            <a:off x="442200" y="2885950"/>
            <a:ext cx="2629800" cy="2715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3f4f89e88cb_0_105"/>
          <p:cNvSpPr/>
          <p:nvPr/>
        </p:nvSpPr>
        <p:spPr>
          <a:xfrm>
            <a:off x="4751475" y="1058100"/>
            <a:ext cx="2629800" cy="20217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g3f4f89e88cb_0_105"/>
          <p:cNvSpPr/>
          <p:nvPr/>
        </p:nvSpPr>
        <p:spPr>
          <a:xfrm>
            <a:off x="442200" y="3157450"/>
            <a:ext cx="2629800" cy="271500"/>
          </a:xfrm>
          <a:prstGeom prst="rect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g3f4f89e88cb_0_105"/>
          <p:cNvSpPr/>
          <p:nvPr/>
        </p:nvSpPr>
        <p:spPr>
          <a:xfrm>
            <a:off x="4684875" y="3428950"/>
            <a:ext cx="1180200" cy="1419600"/>
          </a:xfrm>
          <a:prstGeom prst="rect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47" name="Google Shape;147;g3f4f89e88cb_0_105"/>
          <p:cNvCxnSpPr>
            <a:endCxn id="146" idx="1"/>
          </p:cNvCxnSpPr>
          <p:nvPr/>
        </p:nvCxnSpPr>
        <p:spPr>
          <a:xfrm>
            <a:off x="3072075" y="3293050"/>
            <a:ext cx="1612800" cy="845700"/>
          </a:xfrm>
          <a:prstGeom prst="straightConnector1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8" name="Google Shape;148;g3f4f89e88cb_0_105"/>
          <p:cNvSpPr txBox="1"/>
          <p:nvPr/>
        </p:nvSpPr>
        <p:spPr>
          <a:xfrm>
            <a:off x="6051275" y="3622949"/>
            <a:ext cx="2967300" cy="1262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</a:rPr>
              <a:t>資料庫資料 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研究計劃 108-114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產學 108-114核定計畫名單(含關鍵字與摘要)20260223_產學計畫案.xlsx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</a:t>
            </a:r>
            <a:r>
              <a:rPr lang="zh-TW"/>
              <a:t>下載後直接放入資料夾中(包含data/database)</a:t>
            </a:r>
            <a:endParaRPr/>
          </a:p>
        </p:txBody>
      </p:sp>
      <p:sp>
        <p:nvSpPr>
          <p:cNvPr id="154" name="Google Shape;154;p7"/>
          <p:cNvSpPr txBox="1"/>
          <p:nvPr>
            <p:ph idx="1" type="body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crawler: 爬取碩博士論文的網站，作為推薦委員的參考資料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industry_coop: 產學合作資料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research_proj: 研究計畫資料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RDF_database: </a:t>
            </a:r>
            <a:r>
              <a:rPr lang="zh-TW"/>
              <a:t>申請案件中教授紀錄，用於後續教授資訊更新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output: 輸出的資料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past_data: 過去的資料</a:t>
            </a:r>
            <a:endParaRPr/>
          </a:p>
        </p:txBody>
      </p:sp>
      <p:pic>
        <p:nvPicPr>
          <p:cNvPr id="155" name="Google Shape;155;p7"/>
          <p:cNvPicPr preferRelativeResize="0"/>
          <p:nvPr/>
        </p:nvPicPr>
        <p:blipFill rotWithShape="1">
          <a:blip r:embed="rId4">
            <a:alphaModFix/>
          </a:blip>
          <a:srcRect b="0" l="0" r="59933" t="0"/>
          <a:stretch/>
        </p:blipFill>
        <p:spPr>
          <a:xfrm>
            <a:off x="5760675" y="2789022"/>
            <a:ext cx="3071625" cy="21139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6" name="Google Shape;156;p7"/>
          <p:cNvSpPr txBox="1"/>
          <p:nvPr/>
        </p:nvSpPr>
        <p:spPr>
          <a:xfrm>
            <a:off x="157075" y="3764300"/>
            <a:ext cx="4030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檔案在這：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 u="sng">
                <a:solidFill>
                  <a:schemeClr val="hlink"/>
                </a:solidFill>
                <a:hlinkClick r:id="rId5"/>
              </a:rPr>
              <a:t>https://drive.google.com/drive/folders/1yrLFD6SsjqOV3T37nAB6LskgI7o_EG7c?usp=sharing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準備的資料</a:t>
            </a:r>
            <a:endParaRPr b="1"/>
          </a:p>
        </p:txBody>
      </p:sp>
      <p:sp>
        <p:nvSpPr>
          <p:cNvPr id="162" name="Google Shape;162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/>
              <a:t>推薦委員有分成兩類：「研究計畫」、「產學合作」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163" name="Google Shape;16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125" y="1761250"/>
            <a:ext cx="8949752" cy="3125074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8"/>
          <p:cNvSpPr txBox="1"/>
          <p:nvPr/>
        </p:nvSpPr>
        <p:spPr>
          <a:xfrm>
            <a:off x="97125" y="3004975"/>
            <a:ext cx="5476500" cy="17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Industry_coop = </a:t>
            </a: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Arial"/>
                <a:ea typeface="Arial"/>
                <a:cs typeface="Arial"/>
                <a:sym typeface="Arial"/>
              </a:rPr>
              <a:t>產學合作</a:t>
            </a:r>
            <a:endParaRPr b="0" i="0" sz="1700" u="none" cap="none" strike="noStrike">
              <a:solidFill>
                <a:schemeClr val="dk1"/>
              </a:solidFill>
              <a:highlight>
                <a:srgbClr val="EA9999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Research_proj = 研究計畫</a:t>
            </a:r>
            <a:endParaRPr b="0" i="0" sz="1700" u="none" cap="none" strike="noStrike">
              <a:solidFill>
                <a:schemeClr val="dk1"/>
              </a:solidFill>
              <a:highlight>
                <a:srgbClr val="EA9999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也就是說再進行推薦時要先確認是屬於那一類</a:t>
            </a:r>
            <a:b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推薦委員的來源會有差異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zh-TW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因此拿到的資料要根據分類放到不同的資料夾中</a:t>
            </a:r>
            <a:r>
              <a:rPr b="0" i="0" lang="zh-TW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欄位：</a:t>
            </a:r>
            <a:endParaRPr/>
          </a:p>
        </p:txBody>
      </p:sp>
      <p:pic>
        <p:nvPicPr>
          <p:cNvPr id="170" name="Google Shape;17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1" name="Google Shape;171;p9"/>
          <p:cNvSpPr txBox="1"/>
          <p:nvPr/>
        </p:nvSpPr>
        <p:spPr>
          <a:xfrm>
            <a:off x="126000" y="1119675"/>
            <a:ext cx="88182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推薦的依據是倚靠：「計劃名稱」＋「計劃摘要」＋「關鍵字」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篩選的依據是倚靠：「申請人」＋「申請機構」＋「共同申請人」＋「共同申請機構」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若收到的檔案缺少很多，尤其是推薦的依據，請對方補上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否則結果會比較不準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開始</a:t>
            </a:r>
            <a:endParaRPr sz="6500"/>
          </a:p>
        </p:txBody>
      </p:sp>
      <p:sp>
        <p:nvSpPr>
          <p:cNvPr id="177" name="Google Shape;177;p10"/>
          <p:cNvSpPr txBox="1"/>
          <p:nvPr/>
        </p:nvSpPr>
        <p:spPr>
          <a:xfrm>
            <a:off x="78800" y="1890100"/>
            <a:ext cx="5937300" cy="3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執行順序一定是：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git_pull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install_env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 如果失敗請按照順序執行看看)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1: 更新版本</a:t>
            </a:r>
            <a:endParaRPr/>
          </a:p>
        </p:txBody>
      </p:sp>
      <p:pic>
        <p:nvPicPr>
          <p:cNvPr id="183" name="Google Shape;18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100825"/>
            <a:ext cx="5274644" cy="26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0" y="2714875"/>
            <a:ext cx="2544925" cy="54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1"/>
          <p:cNvSpPr txBox="1"/>
          <p:nvPr/>
        </p:nvSpPr>
        <p:spPr>
          <a:xfrm>
            <a:off x="277425" y="1466850"/>
            <a:ext cx="737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在資料夾內，先預先點擊（必須在下載 git 之後 )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1"/>
          <p:cNvSpPr txBox="1"/>
          <p:nvPr/>
        </p:nvSpPr>
        <p:spPr>
          <a:xfrm>
            <a:off x="311700" y="3354650"/>
            <a:ext cx="7370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已經最新了！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1"/>
          <p:cNvSpPr/>
          <p:nvPr/>
        </p:nvSpPr>
        <p:spPr>
          <a:xfrm rot="5400000">
            <a:off x="306825" y="2060100"/>
            <a:ext cx="556500" cy="46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2: 安裝環境</a:t>
            </a:r>
            <a:endParaRPr/>
          </a:p>
        </p:txBody>
      </p:sp>
      <p:pic>
        <p:nvPicPr>
          <p:cNvPr id="193" name="Google Shape;19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017725"/>
            <a:ext cx="8023675" cy="46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6" y="1629520"/>
            <a:ext cx="3826517" cy="2129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31900" y="3194879"/>
            <a:ext cx="4528475" cy="185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2"/>
          <p:cNvSpPr/>
          <p:nvPr/>
        </p:nvSpPr>
        <p:spPr>
          <a:xfrm rot="2093778">
            <a:off x="3793906" y="3390892"/>
            <a:ext cx="1059268" cy="376667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2"/>
          <p:cNvSpPr txBox="1"/>
          <p:nvPr/>
        </p:nvSpPr>
        <p:spPr>
          <a:xfrm>
            <a:off x="5335375" y="5005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highlight>
                  <a:srgbClr val="FCE5CD"/>
                </a:highlight>
                <a:latin typeface="Arial"/>
                <a:ea typeface="Arial"/>
                <a:cs typeface="Arial"/>
                <a:sym typeface="Arial"/>
              </a:rPr>
              <a:t>直接點擊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f81f8ff915_0_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Arial"/>
              <a:buNone/>
            </a:pPr>
            <a:r>
              <a:rPr lang="zh-TW"/>
              <a:t>Step 2: 安裝環境</a:t>
            </a:r>
            <a:endParaRPr/>
          </a:p>
        </p:txBody>
      </p:sp>
      <p:sp>
        <p:nvSpPr>
          <p:cNvPr id="203" name="Google Shape;203;g3f81f8ff915_0_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若發現點擊後沒有反應或是在終端機執行發現圖中錯誤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請到控控制台 → 地區 → 系統管理 → 變更系統地區設定 → 看有沒有勾選「Beta: 使用 Unicode UTF-8 提供全球語言支援」</a:t>
            </a:r>
            <a:endParaRPr/>
          </a:p>
        </p:txBody>
      </p:sp>
      <p:pic>
        <p:nvPicPr>
          <p:cNvPr id="204" name="Google Shape;204;g3f81f8ff915_0_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5973" y="410700"/>
            <a:ext cx="4006325" cy="641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g3f81f8ff915_0_2" title="截圖 2026-07-15 14.45.4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474" y="2384149"/>
            <a:ext cx="3048426" cy="150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g3f81f8ff915_0_2" title="截圖 2026-07-15 14.46.27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16413" y="2372875"/>
            <a:ext cx="3727700" cy="2104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g3f81f8ff915_0_2" title="截圖 2026-07-15 14.46.4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32600" y="2472425"/>
            <a:ext cx="1880975" cy="985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g3f81f8ff915_0_2"/>
          <p:cNvSpPr/>
          <p:nvPr/>
        </p:nvSpPr>
        <p:spPr>
          <a:xfrm>
            <a:off x="2199200" y="3309175"/>
            <a:ext cx="846300" cy="2316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g3f81f8ff915_0_2"/>
          <p:cNvSpPr/>
          <p:nvPr/>
        </p:nvSpPr>
        <p:spPr>
          <a:xfrm>
            <a:off x="4024213" y="2778713"/>
            <a:ext cx="372600" cy="1110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f81f8ff915_0_2"/>
          <p:cNvSpPr/>
          <p:nvPr/>
        </p:nvSpPr>
        <p:spPr>
          <a:xfrm>
            <a:off x="6194938" y="3589438"/>
            <a:ext cx="610800" cy="1110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g3f81f8ff915_0_2"/>
          <p:cNvSpPr/>
          <p:nvPr/>
        </p:nvSpPr>
        <p:spPr>
          <a:xfrm>
            <a:off x="7132600" y="3159925"/>
            <a:ext cx="1317000" cy="1110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3f81f8ff915_0_2"/>
          <p:cNvSpPr/>
          <p:nvPr/>
        </p:nvSpPr>
        <p:spPr>
          <a:xfrm>
            <a:off x="2997925" y="3540775"/>
            <a:ext cx="510600" cy="37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g3f81f8ff915_0_2"/>
          <p:cNvSpPr/>
          <p:nvPr/>
        </p:nvSpPr>
        <p:spPr>
          <a:xfrm rot="-1726116">
            <a:off x="6857958" y="3397907"/>
            <a:ext cx="624593" cy="3766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g3f81f8ff915_0_2"/>
          <p:cNvSpPr txBox="1"/>
          <p:nvPr/>
        </p:nvSpPr>
        <p:spPr>
          <a:xfrm>
            <a:off x="7458075" y="3309175"/>
            <a:ext cx="15555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1500">
                <a:solidFill>
                  <a:srgbClr val="FF0000"/>
                </a:solidFill>
              </a:rPr>
              <a:t>打勾後儲存</a:t>
            </a:r>
            <a:endParaRPr b="1" sz="15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Step3: 設定要執行的計劃 </a:t>
            </a:r>
            <a:endParaRPr/>
          </a:p>
        </p:txBody>
      </p:sp>
      <p:pic>
        <p:nvPicPr>
          <p:cNvPr id="220" name="Google Shape;22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123450"/>
            <a:ext cx="8465201" cy="43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0" y="1864875"/>
            <a:ext cx="6257124" cy="2213375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3"/>
          <p:cNvSpPr txBox="1"/>
          <p:nvPr/>
        </p:nvSpPr>
        <p:spPr>
          <a:xfrm>
            <a:off x="6754000" y="2656450"/>
            <a:ext cx="1567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產學合作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研究計劃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zh-TW"/>
              <a:t>Step3: 設定要執行的計劃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228" name="Google Shape;228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雙擊 windows_setting.bat ，</a:t>
            </a:r>
            <a:br>
              <a:rPr lang="zh-TW"/>
            </a:br>
            <a:r>
              <a:rPr lang="zh-TW"/>
              <a:t>分為「產學合作」、「研究計畫」後，確認項目後按下確認</a:t>
            </a:r>
            <a:endParaRPr/>
          </a:p>
        </p:txBody>
      </p:sp>
      <p:pic>
        <p:nvPicPr>
          <p:cNvPr id="229" name="Google Shape;22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1975" y="1971752"/>
            <a:ext cx="4901100" cy="29100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0" name="Google Shape;230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81675" y="3562425"/>
            <a:ext cx="2781300" cy="14668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1" name="Google Shape;231;p14"/>
          <p:cNvSpPr txBox="1"/>
          <p:nvPr/>
        </p:nvSpPr>
        <p:spPr>
          <a:xfrm>
            <a:off x="4459275" y="44875"/>
            <a:ext cx="46848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zh-TW" sz="29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9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2" name="Google Shape;232;p14"/>
          <p:cNvPicPr preferRelativeResize="0"/>
          <p:nvPr/>
        </p:nvPicPr>
        <p:blipFill rotWithShape="1">
          <a:blip r:embed="rId5">
            <a:alphaModFix/>
          </a:blip>
          <a:srcRect b="0" l="1574" r="72059" t="0"/>
          <a:stretch/>
        </p:blipFill>
        <p:spPr>
          <a:xfrm>
            <a:off x="878725" y="1090500"/>
            <a:ext cx="2231975" cy="43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選擇要處理的檔案</a:t>
            </a:r>
            <a:endParaRPr/>
          </a:p>
        </p:txBody>
      </p:sp>
      <p:sp>
        <p:nvSpPr>
          <p:cNvPr id="238" name="Google Shape;23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記得要根據「準備的資料」放在相應的位置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選擇要處理的檔案</a:t>
            </a:r>
            <a:endParaRPr/>
          </a:p>
        </p:txBody>
      </p:sp>
      <p:pic>
        <p:nvPicPr>
          <p:cNvPr id="239" name="Google Shape;23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550" y="2269600"/>
            <a:ext cx="3695700" cy="2076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0" name="Google Shape;240;p15"/>
          <p:cNvSpPr/>
          <p:nvPr/>
        </p:nvSpPr>
        <p:spPr>
          <a:xfrm>
            <a:off x="4514675" y="2975675"/>
            <a:ext cx="556500" cy="46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1" name="Google Shape;241;p15"/>
          <p:cNvPicPr preferRelativeResize="0"/>
          <p:nvPr/>
        </p:nvPicPr>
        <p:blipFill rotWithShape="1">
          <a:blip r:embed="rId4">
            <a:alphaModFix/>
          </a:blip>
          <a:srcRect b="0" l="0" r="50985" t="0"/>
          <a:stretch/>
        </p:blipFill>
        <p:spPr>
          <a:xfrm>
            <a:off x="5648350" y="1332025"/>
            <a:ext cx="2754551" cy="31623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2" name="Google Shape;242;p15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選擇那個檔案要處理對應的試算表</a:t>
            </a:r>
            <a:endParaRPr/>
          </a:p>
        </p:txBody>
      </p:sp>
      <p:sp>
        <p:nvSpPr>
          <p:cNvPr id="248" name="Google Shape;248;p16"/>
          <p:cNvSpPr txBox="1"/>
          <p:nvPr>
            <p:ph idx="1" type="body"/>
          </p:nvPr>
        </p:nvSpPr>
        <p:spPr>
          <a:xfrm>
            <a:off x="3426525" y="101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可以多選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249" name="Google Shape;24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888" y="1211888"/>
            <a:ext cx="2790825" cy="31146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50" name="Google Shape;250;p16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" name="Google Shape;251;p16"/>
          <p:cNvPicPr preferRelativeResize="0"/>
          <p:nvPr/>
        </p:nvPicPr>
        <p:blipFill rotWithShape="1">
          <a:blip r:embed="rId4">
            <a:alphaModFix/>
          </a:blip>
          <a:srcRect b="0" l="0" r="76091" t="0"/>
          <a:stretch/>
        </p:blipFill>
        <p:spPr>
          <a:xfrm>
            <a:off x="3402575" y="3744125"/>
            <a:ext cx="4337825" cy="64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sp>
        <p:nvSpPr>
          <p:cNvPr id="257" name="Google Shape;257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必填(推薦的主要方法)：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計劃名稱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中文關鍵字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計劃摘要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主持人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申請機構</a:t>
            </a:r>
            <a:endParaRPr/>
          </a:p>
        </p:txBody>
      </p:sp>
      <p:pic>
        <p:nvPicPr>
          <p:cNvPr id="258" name="Google Shape;25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25187" y="44875"/>
            <a:ext cx="3293625" cy="49711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59" name="Google Shape;259;p17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72840"/>
              <a:buNone/>
            </a:pPr>
            <a:r>
              <a:rPr lang="zh-TW"/>
              <a:t>選擇欄位 </a:t>
            </a:r>
            <a:r>
              <a:rPr lang="zh-TW" sz="1800">
                <a:solidFill>
                  <a:schemeClr val="dk2"/>
                </a:solidFill>
              </a:rPr>
              <a:t>舉例來說！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pic>
        <p:nvPicPr>
          <p:cNvPr id="265" name="Google Shape;26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266" name="Google Shape;266;p18"/>
          <p:cNvCxnSpPr/>
          <p:nvPr/>
        </p:nvCxnSpPr>
        <p:spPr>
          <a:xfrm>
            <a:off x="1197225" y="1590875"/>
            <a:ext cx="0" cy="145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67" name="Google Shape;267;p18"/>
          <p:cNvSpPr txBox="1"/>
          <p:nvPr/>
        </p:nvSpPr>
        <p:spPr>
          <a:xfrm>
            <a:off x="807000" y="1165300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申請機構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8" name="Google Shape;268;p18"/>
          <p:cNvCxnSpPr/>
          <p:nvPr/>
        </p:nvCxnSpPr>
        <p:spPr>
          <a:xfrm>
            <a:off x="1587725" y="2340725"/>
            <a:ext cx="0" cy="70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69" name="Google Shape;269;p18"/>
          <p:cNvSpPr txBox="1"/>
          <p:nvPr/>
        </p:nvSpPr>
        <p:spPr>
          <a:xfrm>
            <a:off x="1327425" y="1888375"/>
            <a:ext cx="1197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計劃主持人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0" name="Google Shape;270;p18"/>
          <p:cNvCxnSpPr/>
          <p:nvPr/>
        </p:nvCxnSpPr>
        <p:spPr>
          <a:xfrm>
            <a:off x="2839550" y="1783400"/>
            <a:ext cx="0" cy="128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1" name="Google Shape;271;p18"/>
          <p:cNvSpPr txBox="1"/>
          <p:nvPr/>
        </p:nvSpPr>
        <p:spPr>
          <a:xfrm>
            <a:off x="2524725" y="1350025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計劃名稱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2" name="Google Shape;272;p18"/>
          <p:cNvCxnSpPr/>
          <p:nvPr/>
        </p:nvCxnSpPr>
        <p:spPr>
          <a:xfrm>
            <a:off x="3863375" y="2467375"/>
            <a:ext cx="0" cy="57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3" name="Google Shape;273;p18"/>
          <p:cNvSpPr txBox="1"/>
          <p:nvPr/>
        </p:nvSpPr>
        <p:spPr>
          <a:xfrm>
            <a:off x="3470625" y="2000975"/>
            <a:ext cx="993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計劃摘要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9"/>
          <p:cNvSpPr txBox="1"/>
          <p:nvPr>
            <p:ph idx="1" type="body"/>
          </p:nvPr>
        </p:nvSpPr>
        <p:spPr>
          <a:xfrm>
            <a:off x="311700" y="1152475"/>
            <a:ext cx="8520600" cy="3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計劃名稱</a:t>
            </a:r>
            <a:r>
              <a:rPr lang="zh-TW"/>
              <a:t>：要申請計劃名稱的欄位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中文關鍵字</a:t>
            </a:r>
            <a:r>
              <a:rPr lang="zh-TW"/>
              <a:t>：計劃專業的關鍵字的欄位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計劃摘要</a:t>
            </a:r>
            <a:r>
              <a:rPr b="1" lang="zh-TW"/>
              <a:t>：</a:t>
            </a:r>
            <a:r>
              <a:rPr lang="zh-TW"/>
              <a:t>關於計劃的摘要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申請機構</a:t>
            </a:r>
            <a:r>
              <a:rPr lang="zh-TW"/>
              <a:t>：來自於哪裡申請的學校的欄位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計劃主持人</a:t>
            </a:r>
            <a:r>
              <a:rPr lang="zh-TW"/>
              <a:t>：申請人名稱的欄位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/>
              <a:t>計畫相關其他欄位 </a:t>
            </a:r>
            <a:r>
              <a:rPr lang="zh-TW"/>
              <a:t>：不影響結果，</a:t>
            </a:r>
            <a:br>
              <a:rPr lang="zh-TW"/>
            </a:br>
            <a:r>
              <a:rPr lang="zh-TW"/>
              <a:t>但是可以</a:t>
            </a:r>
            <a:r>
              <a:rPr lang="zh-TW">
                <a:highlight>
                  <a:srgbClr val="FFF2CC"/>
                </a:highlight>
              </a:rPr>
              <a:t>附帶在輸出的結果裡面，方便閱讀</a:t>
            </a:r>
            <a:endParaRPr>
              <a:highlight>
                <a:srgbClr val="FFF2CC"/>
              </a:highlight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/>
              <a:t>共同計劃主持人</a:t>
            </a:r>
            <a:r>
              <a:rPr lang="zh-TW"/>
              <a:t>：</a:t>
            </a:r>
            <a:br>
              <a:rPr lang="zh-TW"/>
            </a:br>
            <a:r>
              <a:rPr lang="zh-TW"/>
              <a:t>除了計劃主持人的一同申請的申請人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1200"/>
              </a:spcAft>
              <a:buSzPct val="108108"/>
              <a:buChar char="●"/>
            </a:pPr>
            <a:r>
              <a:rPr b="1" lang="zh-TW"/>
              <a:t>共同機構</a:t>
            </a:r>
            <a:r>
              <a:rPr lang="zh-TW"/>
              <a:t>：除了申請機構一同申請的機構</a:t>
            </a:r>
            <a:endParaRPr/>
          </a:p>
        </p:txBody>
      </p:sp>
      <p:sp>
        <p:nvSpPr>
          <p:cNvPr id="279" name="Google Shape;27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pic>
        <p:nvPicPr>
          <p:cNvPr id="280" name="Google Shape;28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0011" y="445025"/>
            <a:ext cx="3085840" cy="4657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1" name="Google Shape;281;p19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9"/>
          <p:cNvSpPr txBox="1"/>
          <p:nvPr/>
        </p:nvSpPr>
        <p:spPr>
          <a:xfrm>
            <a:off x="1939500" y="737000"/>
            <a:ext cx="429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1800">
                <a:solidFill>
                  <a:srgbClr val="FF0000"/>
                </a:solidFill>
              </a:rPr>
              <a:t>必要欄位一定要選！！</a:t>
            </a:r>
            <a:endParaRPr b="1" sz="1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4: 執行檔案，雙擊 windows.bat</a:t>
            </a:r>
            <a:endParaRPr/>
          </a:p>
        </p:txBody>
      </p:sp>
      <p:sp>
        <p:nvSpPr>
          <p:cNvPr id="288" name="Google Shape;288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可能會需要等待一點時間....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2. 存入資料庫（更新資料庫）：</a:t>
            </a:r>
            <a:br>
              <a:rPr lang="zh-TW"/>
            </a:br>
            <a:r>
              <a:rPr lang="zh-TW"/>
              <a:t>若已經匯入就不用選擇(預設已經匯入)，並且要確保記憶體空間超過 16GB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如果需要更改需到setting.yaml 修改存</a:t>
            </a:r>
            <a:r>
              <a:rPr lang="zh-TW"/>
              <a:t>入</a:t>
            </a:r>
            <a:r>
              <a:rPr lang="zh-TW"/>
              <a:t>資料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>
                <a:solidFill>
                  <a:srgbClr val="FF0000"/>
                </a:solidFill>
              </a:rPr>
              <a:t>3. 輸出推薦委員：保證資料都已經匯入就可以輸出檔案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289" name="Google Shape;289;p20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0" name="Google Shape;290;p20" title="截圖 2026-07-13 13.44.5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097" y="3153575"/>
            <a:ext cx="2383025" cy="182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0" title="截圖 2026-07-13 13.46.0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82725" y="3153575"/>
            <a:ext cx="3573255" cy="182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0"/>
          <p:cNvSpPr txBox="1"/>
          <p:nvPr/>
        </p:nvSpPr>
        <p:spPr>
          <a:xfrm>
            <a:off x="6423550" y="3941050"/>
            <a:ext cx="21801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chemeClr val="dk2"/>
                </a:solidFill>
              </a:rPr>
              <a:t>← 會顯示當前執行進度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293" name="Google Shape;293;p20"/>
          <p:cNvSpPr/>
          <p:nvPr/>
        </p:nvSpPr>
        <p:spPr>
          <a:xfrm>
            <a:off x="3390200" y="3941025"/>
            <a:ext cx="3087600" cy="7389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輸出的檔案</a:t>
            </a:r>
            <a:endParaRPr/>
          </a:p>
        </p:txBody>
      </p:sp>
      <p:sp>
        <p:nvSpPr>
          <p:cNvPr id="299" name="Google Shape;299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可以主要看 </a:t>
            </a:r>
            <a:r>
              <a:rPr lang="zh-TW">
                <a:highlight>
                  <a:srgbClr val="FFF2CC"/>
                </a:highlight>
              </a:rPr>
              <a:t>推薦表統合_VBA</a:t>
            </a:r>
            <a:endParaRPr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=&gt; ./data/output/{</a:t>
            </a:r>
            <a:r>
              <a:rPr lang="zh-TW"/>
              <a:t>審查案名稱</a:t>
            </a:r>
            <a:r>
              <a:rPr lang="zh-TW"/>
              <a:t>}_{</a:t>
            </a:r>
            <a:r>
              <a:rPr lang="zh-TW"/>
              <a:t>時間</a:t>
            </a:r>
            <a:r>
              <a:rPr lang="zh-TW"/>
              <a:t>}/...</a:t>
            </a:r>
            <a:endParaRPr/>
          </a:p>
        </p:txBody>
      </p:sp>
      <p:pic>
        <p:nvPicPr>
          <p:cNvPr id="300" name="Google Shape;300;p21" title="截圖 2026-07-13 13.58.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213" y="2213650"/>
            <a:ext cx="2067800" cy="245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21" title="截圖 2026-07-13 13.58.52.png"/>
          <p:cNvPicPr preferRelativeResize="0"/>
          <p:nvPr/>
        </p:nvPicPr>
        <p:blipFill rotWithShape="1">
          <a:blip r:embed="rId4">
            <a:alphaModFix/>
          </a:blip>
          <a:srcRect b="52494" l="0" r="0" t="0"/>
          <a:stretch/>
        </p:blipFill>
        <p:spPr>
          <a:xfrm>
            <a:off x="2915113" y="2641950"/>
            <a:ext cx="5869675" cy="1657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f4f89e88cb_0_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過程中可能遇到問題</a:t>
            </a:r>
            <a:endParaRPr/>
          </a:p>
        </p:txBody>
      </p:sp>
      <p:sp>
        <p:nvSpPr>
          <p:cNvPr id="307" name="Google Shape;307;g3f4f89e88cb_0_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install_env.bat </a:t>
            </a:r>
            <a:r>
              <a:rPr lang="zh-TW"/>
              <a:t>若發生錯誤    </a:t>
            </a:r>
            <a:r>
              <a:rPr lang="zh-TW"/>
              <a:t>→ 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TW"/>
              <a:t>請到控控制台 → 地區 → 系統管理 → 變更系統地區設定 → 看有沒有勾選「Beta: 使用 Unicode UTF-8 提供全球語言支援」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[Errno 13] Permission denied:.... 代表你可能開著 EXCEL 記得關掉，東西都關掉後重開看看！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Ollama 回應超時!： 找RA處理，應該是因為有其他人在使用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key not foung: 確認setting.yaml是否有缺漏 可以參考setting_example.yaml</a:t>
            </a:r>
            <a:endParaRPr/>
          </a:p>
        </p:txBody>
      </p:sp>
      <p:pic>
        <p:nvPicPr>
          <p:cNvPr id="308" name="Google Shape;308;g3f4f89e88cb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0263" y="816488"/>
            <a:ext cx="4581525" cy="733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f4f89e88cb_0_1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更新資料</a:t>
            </a:r>
            <a:endParaRPr sz="6500"/>
          </a:p>
        </p:txBody>
      </p:sp>
      <p:sp>
        <p:nvSpPr>
          <p:cNvPr id="314" name="Google Shape;314;g3f4f89e88cb_0_19"/>
          <p:cNvSpPr txBox="1"/>
          <p:nvPr/>
        </p:nvSpPr>
        <p:spPr>
          <a:xfrm>
            <a:off x="0" y="3666000"/>
            <a:ext cx="59373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如果資料庫或是教授資料需要更新</a:t>
            </a:r>
            <a:endParaRPr sz="2800">
              <a:solidFill>
                <a:srgbClr val="FF000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請使用以下步驟</a:t>
            </a:r>
            <a:endParaRPr sz="2800">
              <a:solidFill>
                <a:srgbClr val="FF000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建議找學生處理有些許複雜</a:t>
            </a:r>
            <a:endParaRPr sz="2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f4f89e88cb_0_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sp>
        <p:nvSpPr>
          <p:cNvPr id="320" name="Google Shape;320;g3f4f89e88cb_0_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</a:t>
            </a:r>
            <a:r>
              <a:rPr lang="zh-TW"/>
              <a:t>需確認在 data/RDF_database 中有 暫存最新人才資料庫 與 統計清單人才資料_RDF_UNI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2. 確認在crawler 有committee_all_education_with_advisor (沒有不影響)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如果有更新需要確認setting.yaml 中</a:t>
            </a:r>
            <a:endParaRPr sz="1500"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crawler中委員指導教授資料</a:t>
            </a:r>
            <a:endParaRPr sz="1500"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是指向最新檔案</a:t>
            </a:r>
            <a:endParaRPr sz="1500">
              <a:highlight>
                <a:srgbClr val="FFF2CC"/>
              </a:highlight>
            </a:endParaRPr>
          </a:p>
        </p:txBody>
      </p:sp>
      <p:sp>
        <p:nvSpPr>
          <p:cNvPr id="321" name="Google Shape;321;g3f4f89e88cb_0_25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2" name="Google Shape;322;g3f4f89e88cb_0_25" title="截圖 2026-07-13 14.01.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8125" y="1610825"/>
            <a:ext cx="4684168" cy="1298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g3f4f89e88cb_0_25"/>
          <p:cNvSpPr/>
          <p:nvPr/>
        </p:nvSpPr>
        <p:spPr>
          <a:xfrm>
            <a:off x="4189275" y="2249800"/>
            <a:ext cx="1668000" cy="4113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4" name="Google Shape;324;g3f4f89e88cb_0_25" title="截圖 2026-07-13 14.03.1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9125" y="3647602"/>
            <a:ext cx="4684177" cy="1429278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g3f4f89e88cb_0_25"/>
          <p:cNvSpPr/>
          <p:nvPr/>
        </p:nvSpPr>
        <p:spPr>
          <a:xfrm>
            <a:off x="4163650" y="4569425"/>
            <a:ext cx="2027100" cy="1395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g3f4f89e88cb_0_25"/>
          <p:cNvSpPr txBox="1"/>
          <p:nvPr/>
        </p:nvSpPr>
        <p:spPr>
          <a:xfrm>
            <a:off x="311700" y="2238000"/>
            <a:ext cx="52134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一定要有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在先前執行推薦時會自動更新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故建議是每年更新一次即可(先前的檔案不要刪掉)</a:t>
            </a:r>
            <a:endParaRPr sz="15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f4f89e88cb_0_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pic>
        <p:nvPicPr>
          <p:cNvPr id="332" name="Google Shape;332;g3f4f89e88cb_0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842950"/>
            <a:ext cx="4468501" cy="2260551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g3f4f89e88cb_0_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Step1: 於 NSTC（國家科學及技術委員會研究人才查詢）以「教授名稱＋當前任職單位」取得教授畢業院校（註：部分教授未公開，故查不到）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Step2:  於 NDLTD（碩博士論文加值網）取得教授的指導教授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過程中因為需要打驗證碼，故需要適時查看 在輸入後按下enter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34" name="Google Shape;334;g3f4f89e88cb_0_46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g3f4f89e88cb_0_46"/>
          <p:cNvSpPr/>
          <p:nvPr/>
        </p:nvSpPr>
        <p:spPr>
          <a:xfrm>
            <a:off x="311700" y="4057375"/>
            <a:ext cx="1837200" cy="263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6" name="Google Shape;336;g3f4f89e88cb_0_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3850" y="3461150"/>
            <a:ext cx="3952998" cy="159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g3f4f89e88cb_0_46"/>
          <p:cNvSpPr/>
          <p:nvPr/>
        </p:nvSpPr>
        <p:spPr>
          <a:xfrm>
            <a:off x="5003850" y="3894475"/>
            <a:ext cx="1668000" cy="5043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g3f4f89e88cb_0_46"/>
          <p:cNvSpPr txBox="1"/>
          <p:nvPr/>
        </p:nvSpPr>
        <p:spPr>
          <a:xfrm>
            <a:off x="5003850" y="3198275"/>
            <a:ext cx="446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highlight>
                  <a:srgbClr val="FFF2CC"/>
                </a:highlight>
              </a:rPr>
              <a:t>輸入後進入碩博士網站載到終端機按下enter</a:t>
            </a:r>
            <a:endParaRPr>
              <a:solidFill>
                <a:schemeClr val="dk2"/>
              </a:solidFill>
              <a:highlight>
                <a:srgbClr val="FFF2CC"/>
              </a:highlight>
            </a:endParaRPr>
          </a:p>
        </p:txBody>
      </p:sp>
      <p:sp>
        <p:nvSpPr>
          <p:cNvPr id="339" name="Google Shape;339;g3f4f89e88cb_0_46"/>
          <p:cNvSpPr txBox="1"/>
          <p:nvPr/>
        </p:nvSpPr>
        <p:spPr>
          <a:xfrm>
            <a:off x="5684125" y="687700"/>
            <a:ext cx="3459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dk2"/>
                </a:solidFill>
                <a:highlight>
                  <a:srgbClr val="F4CCCC"/>
                </a:highlight>
              </a:rPr>
              <a:t>爬蟲會執行很久 建議非必要不要更新</a:t>
            </a:r>
            <a:endParaRPr b="1">
              <a:solidFill>
                <a:schemeClr val="dk2"/>
              </a:solidFill>
              <a:highlight>
                <a:srgbClr val="F4CCCC"/>
              </a:highlight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f4f89e88cb_0_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</a:t>
            </a:r>
            <a:r>
              <a:rPr lang="zh-TW"/>
              <a:t>通過資料</a:t>
            </a:r>
            <a:endParaRPr/>
          </a:p>
        </p:txBody>
      </p:sp>
      <p:sp>
        <p:nvSpPr>
          <p:cNvPr id="345" name="Google Shape;345;g3f4f89e88cb_0_6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修改 setting.yaml 中資料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設定好後執行 windowss.bat 按下存入資料庫即可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46" name="Google Shape;346;g3f4f89e88cb_0_64"/>
          <p:cNvSpPr/>
          <p:nvPr/>
        </p:nvSpPr>
        <p:spPr>
          <a:xfrm>
            <a:off x="331875" y="4561650"/>
            <a:ext cx="3052800" cy="2715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g3f4f89e88cb_0_64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8" name="Google Shape;348;g3f4f89e88cb_0_64" title="截圖 2026-07-13 15.02.3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871" y="2655275"/>
            <a:ext cx="5567875" cy="2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g3f4f89e88cb_0_64"/>
          <p:cNvSpPr/>
          <p:nvPr/>
        </p:nvSpPr>
        <p:spPr>
          <a:xfrm>
            <a:off x="515400" y="3409600"/>
            <a:ext cx="5200800" cy="7389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g3f4f89e88cb_0_64"/>
          <p:cNvSpPr/>
          <p:nvPr/>
        </p:nvSpPr>
        <p:spPr>
          <a:xfrm>
            <a:off x="551650" y="4642275"/>
            <a:ext cx="5200800" cy="3396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1" name="Google Shape;351;g3f4f89e88cb_0_64" title="截圖 2026-07-13 15.07.2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863" y="1912325"/>
            <a:ext cx="3228975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g3f4f89e88cb_0_64"/>
          <p:cNvSpPr txBox="1"/>
          <p:nvPr/>
        </p:nvSpPr>
        <p:spPr>
          <a:xfrm>
            <a:off x="1382275" y="2300225"/>
            <a:ext cx="224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lt1"/>
                </a:solidFill>
              </a:rPr>
              <a:t>修改成要更新的檔案類型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lt1"/>
                </a:solidFill>
              </a:rPr>
              <a:t>如果都要更新要執行兩次!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id="353" name="Google Shape;353;g3f4f89e88cb_0_64" title="截圖 2026-07-13 13.44.5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31751" y="1654775"/>
            <a:ext cx="2918717" cy="223770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g3f4f89e88cb_0_64"/>
          <p:cNvSpPr/>
          <p:nvPr/>
        </p:nvSpPr>
        <p:spPr>
          <a:xfrm>
            <a:off x="6276149" y="2571750"/>
            <a:ext cx="2296500" cy="4002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f4f89e88cb_0_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更新通過資料</a:t>
            </a:r>
            <a:endParaRPr/>
          </a:p>
        </p:txBody>
      </p:sp>
      <p:sp>
        <p:nvSpPr>
          <p:cNvPr id="360" name="Google Shape;360;g3f4f89e88cb_0_8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zh-TW" sz="6458"/>
              <a:t>確保輸入資料欄位如下(每個分頁欄位名稱要一樣)：</a:t>
            </a:r>
            <a:endParaRPr sz="6458"/>
          </a:p>
          <a:p>
            <a:pPr indent="-318416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●"/>
            </a:pPr>
            <a:r>
              <a:rPr b="1" lang="zh-TW" sz="5658"/>
              <a:t>研究計畫</a:t>
            </a:r>
            <a:r>
              <a:rPr lang="zh-TW" sz="5658"/>
              <a:t>（is_industry=False，來源＝計畫過去申請案件）</a:t>
            </a:r>
            <a:endParaRPr sz="56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檔案每個年度分頁都要有上面四欄，分頁名要對上 計畫過去申請案件年分範圍(請以年份代表)。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「</a:t>
            </a:r>
            <a:r>
              <a:rPr lang="zh-TW" sz="4858"/>
              <a:t>通過」欄不用自己準備——程式會自動補：</a:t>
            </a:r>
            <a:endParaRPr sz="4858"/>
          </a:p>
          <a:p>
            <a:pPr indent="-305716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有提供 統計清單（{年度}總計畫清單 分頁，需含 計畫中文名稱）→ 用它比對決定 通過 = true/false，只有 true 的才存入。</a:t>
            </a:r>
            <a:endParaRPr sz="4858"/>
          </a:p>
          <a:p>
            <a:pPr indent="-305716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沒提供統計清單 → 該年度全部視為通過存入。</a:t>
            </a:r>
            <a:endParaRPr sz="4858"/>
          </a:p>
          <a:p>
            <a:pPr indent="-318416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zh-TW" sz="5658"/>
              <a:t>產學合作</a:t>
            </a:r>
            <a:r>
              <a:rPr lang="zh-TW" sz="5658"/>
              <a:t>（is_industry=True，來源＝產學過去申請名冊）</a:t>
            </a:r>
            <a:endParaRPr sz="56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分頁名寫死為 專題計畫綜合查詢（get_industry_coop_proj 內），你的檔案必須有這個分頁。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一樣要有那四個欄位。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產學不做通過與否的過濾，全部存入。</a:t>
            </a:r>
            <a:endParaRPr sz="4858"/>
          </a:p>
          <a:p>
            <a:pPr indent="-305716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zh-TW" sz="4858"/>
              <a:t>必要欄位名稱（確保名稱一致）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計畫主持人、計畫中文名稱、中文摘要、中文關鍵字</a:t>
            </a:r>
            <a:endParaRPr sz="4858"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/>
          </a:p>
        </p:txBody>
      </p:sp>
      <p:sp>
        <p:nvSpPr>
          <p:cNvPr id="361" name="Google Shape;361;g3f4f89e88cb_0_83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原理</a:t>
            </a:r>
            <a:endParaRPr/>
          </a:p>
        </p:txBody>
      </p:sp>
      <p:sp>
        <p:nvSpPr>
          <p:cNvPr id="367" name="Google Shape;367;p23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6975" y="2676650"/>
            <a:ext cx="5593226" cy="23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WorkFlow</a:t>
            </a:r>
            <a:endParaRPr/>
          </a:p>
        </p:txBody>
      </p:sp>
      <p:pic>
        <p:nvPicPr>
          <p:cNvPr id="374" name="Google Shape;374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0" y="1089100"/>
            <a:ext cx="4253102" cy="1694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