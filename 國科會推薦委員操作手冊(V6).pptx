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8" roundtripDataSignature="AMtx7miRFj+Nm+gVN7tVK/jUGTHp7qqz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customschemas.google.com/relationships/presentationmetadata" Target="meta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8188b94b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3f8188b94b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4f89e88cb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4f89e88cb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81f8ff91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g3f81f8ff91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4" name="Google Shape;25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f4f89e88c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g3f4f89e88c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g3f4f89e88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4f89e88cb_0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f4f89e88c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4f89e88cb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g3f4f89e88c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f4f89e88cb_0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" name="Google Shape;342;g3f4f89e88c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f4f89e88cb_0_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g3f4f89e88c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AnnaChen1228/MOST_committee.gi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hyperlink" Target="https://git-scm.com/download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7.png"/><Relationship Id="rId5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www.python.org/downloads/release/python-31011/" TargetMode="External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rive.google.com/drive/folders/1yrLFD6SsjqOV3T37nAB6LskgI7o_EG7c?usp=sharing" TargetMode="External"/><Relationship Id="rId4" Type="http://schemas.openxmlformats.org/officeDocument/2006/relationships/image" Target="../media/image30.png"/><Relationship Id="rId5" Type="http://schemas.openxmlformats.org/officeDocument/2006/relationships/image" Target="../media/image16.png"/><Relationship Id="rId6" Type="http://schemas.openxmlformats.org/officeDocument/2006/relationships/image" Target="../media/image3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9.png"/><Relationship Id="rId4" Type="http://schemas.openxmlformats.org/officeDocument/2006/relationships/image" Target="../media/image32.png"/><Relationship Id="rId5" Type="http://schemas.openxmlformats.org/officeDocument/2006/relationships/image" Target="../media/image41.png"/><Relationship Id="rId6" Type="http://schemas.openxmlformats.org/officeDocument/2006/relationships/image" Target="../media/image2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Relationship Id="rId4" Type="http://schemas.openxmlformats.org/officeDocument/2006/relationships/image" Target="../media/image2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5.png"/><Relationship Id="rId4" Type="http://schemas.openxmlformats.org/officeDocument/2006/relationships/image" Target="../media/image4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7.png"/><Relationship Id="rId4" Type="http://schemas.openxmlformats.org/officeDocument/2006/relationships/image" Target="../media/image4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0.png"/><Relationship Id="rId4" Type="http://schemas.openxmlformats.org/officeDocument/2006/relationships/image" Target="../media/image4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1.png"/><Relationship Id="rId5" Type="http://schemas.openxmlformats.org/officeDocument/2006/relationships/image" Target="../media/image3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b="0" i="0" lang="zh-TW" sz="43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" name="Google Shape;68;p3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b="0" l="0" r="69102" t="0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b="0" i="0" lang="zh-TW" sz="1800" u="sng" cap="none" strike="noStrik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/>
          <p:nvPr>
            <p:ph idx="1" type="body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b="1" lang="zh-TW" sz="1400"/>
              <a:t>下載連結: https://visualstudio.microsoft.com/zh-hant/visual-cpp-build-tools/ </a:t>
            </a:r>
            <a:endParaRPr b="1" sz="1400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b="0" l="1146" r="0" t="0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cap="flat" cmpd="sng" w="28575">
              <a:solidFill>
                <a:srgbClr val="E06666"/>
              </a:solidFill>
              <a:prstDash val="dashDot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cap="flat" cmpd="sng" w="19050">
              <a:solidFill>
                <a:srgbClr val="CC0000"/>
              </a:solidFill>
              <a:prstDash val="dashDot"/>
              <a:round/>
              <a:headEnd len="sm" w="sm" type="none"/>
              <a:tailEnd len="sm" w="sm" type="none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zh-TW" sz="1400"/>
              <a:t>Waiting… 會很久！</a:t>
            </a:r>
            <a:endParaRPr b="1" sz="1400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7" name="Google Shape;10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g3f8188b94b7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650" y="1634351"/>
            <a:ext cx="4843490" cy="231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f8188b94b7_0_0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python 3.10.11</a:t>
            </a:r>
            <a:endParaRPr b="1"/>
          </a:p>
        </p:txBody>
      </p:sp>
      <p:sp>
        <p:nvSpPr>
          <p:cNvPr id="116" name="Google Shape;116;g3f8188b94b7_0_0"/>
          <p:cNvSpPr txBox="1"/>
          <p:nvPr/>
        </p:nvSpPr>
        <p:spPr>
          <a:xfrm>
            <a:off x="1725550" y="409600"/>
            <a:ext cx="4359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zh-TW" sz="1800">
                <a:solidFill>
                  <a:schemeClr val="dk2"/>
                </a:solidFill>
              </a:rPr>
              <a:t>下載 </a:t>
            </a:r>
            <a:r>
              <a:rPr lang="zh-TW" sz="1800" u="sng">
                <a:solidFill>
                  <a:schemeClr val="hlink"/>
                </a:solidFill>
                <a:hlinkClick r:id="rId4"/>
              </a:rPr>
              <a:t>python 3.10.11</a:t>
            </a:r>
            <a:r>
              <a:rPr lang="zh-TW" sz="1800">
                <a:solidFill>
                  <a:schemeClr val="dk2"/>
                </a:solidFill>
              </a:rPr>
              <a:t> 到電腦中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3f8188b94b7_0_0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f8188b94b7_0_0"/>
          <p:cNvSpPr/>
          <p:nvPr/>
        </p:nvSpPr>
        <p:spPr>
          <a:xfrm>
            <a:off x="321975" y="3055600"/>
            <a:ext cx="4686900" cy="4155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f8188b94b7_0_0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f8188b94b7_0_0"/>
          <p:cNvSpPr/>
          <p:nvPr/>
        </p:nvSpPr>
        <p:spPr>
          <a:xfrm rot="5400000">
            <a:off x="2157225" y="3583050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f8188b94b7_0_0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f8188b94b7_0_0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8188b94b7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34013" y="4047500"/>
            <a:ext cx="1724025" cy="276225"/>
          </a:xfrm>
          <a:prstGeom prst="rect">
            <a:avLst/>
          </a:prstGeom>
          <a:noFill/>
          <a:ln cap="flat" cmpd="sng" w="1905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24" name="Google Shape;124;g3f8188b94b7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12875" y="2719275"/>
            <a:ext cx="3663775" cy="233007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f8188b94b7_0_0"/>
          <p:cNvSpPr/>
          <p:nvPr/>
        </p:nvSpPr>
        <p:spPr>
          <a:xfrm>
            <a:off x="6384578" y="3471100"/>
            <a:ext cx="1899000" cy="5271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31" name="Google Shape;131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4f89e88cb_0_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37" name="Google Shape;137;g3f4f89e88cb_0_105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TW" sz="1800">
                <a:solidFill>
                  <a:schemeClr val="dk2"/>
                </a:solidFill>
              </a:rPr>
              <a:t>檔案在這：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zh-TW" sz="1800" u="sng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https://drive.google.com/drive/folders/1yrLFD6SsjqOV3T37nAB6LskgI7o_EG7c?usp=sharing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39" name="Google Shape;139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b="0" l="0" r="70532" t="0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2" name="Google Shape;142;g3f4f89e88cb_0_105"/>
          <p:cNvCxnSpPr/>
          <p:nvPr/>
        </p:nvCxnSpPr>
        <p:spPr>
          <a:xfrm flipH="1" rot="10800000">
            <a:off x="3072125" y="2102300"/>
            <a:ext cx="1396500" cy="845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3" name="Google Shape;143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7" name="Google Shape;147;g3f4f89e88cb_0_105"/>
          <p:cNvCxnSpPr>
            <a:endCxn id="146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8" name="Google Shape;148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</a:t>
            </a:r>
            <a:r>
              <a:rPr lang="zh-TW"/>
              <a:t>下載後直接放入資料夾中(包含data/database)</a:t>
            </a:r>
            <a:endParaRPr/>
          </a:p>
        </p:txBody>
      </p:sp>
      <p:sp>
        <p:nvSpPr>
          <p:cNvPr id="154" name="Google Shape;154;p7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</a:t>
            </a:r>
            <a:r>
              <a:rPr lang="zh-TW"/>
              <a:t>申請案件中教授紀錄，用於後續教授資訊更新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55" name="Google Shape;155;p7"/>
          <p:cNvPicPr preferRelativeResize="0"/>
          <p:nvPr/>
        </p:nvPicPr>
        <p:blipFill rotWithShape="1">
          <a:blip r:embed="rId3">
            <a:alphaModFix/>
          </a:blip>
          <a:srcRect b="0" l="0" r="59933" t="0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6" name="Google Shape;156;p7"/>
          <p:cNvSpPr txBox="1"/>
          <p:nvPr/>
        </p:nvSpPr>
        <p:spPr>
          <a:xfrm>
            <a:off x="157075" y="3764300"/>
            <a:ext cx="403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準備的資料</a:t>
            </a:r>
            <a:endParaRPr b="1"/>
          </a:p>
        </p:txBody>
      </p:sp>
      <p:sp>
        <p:nvSpPr>
          <p:cNvPr id="162" name="Google Shape;162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63" name="Google Shape;16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70" name="Google Shape;17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1" name="Google Shape;171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77" name="Google Shape;177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83" name="Google Shape;18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93" name="Google Shape;19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f81f8ff915_0_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Arial"/>
              <a:buNone/>
            </a:pPr>
            <a:r>
              <a:rPr lang="zh-TW"/>
              <a:t>Step 2: 安裝環境</a:t>
            </a:r>
            <a:endParaRPr/>
          </a:p>
        </p:txBody>
      </p:sp>
      <p:sp>
        <p:nvSpPr>
          <p:cNvPr id="203" name="Google Shape;203;g3f81f8ff915_0_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若發現點擊後沒有反應或是在終端機執行發現圖中錯誤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</p:txBody>
      </p:sp>
      <p:pic>
        <p:nvPicPr>
          <p:cNvPr id="204" name="Google Shape;204;g3f81f8ff915_0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25973" y="410700"/>
            <a:ext cx="4006325" cy="64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f81f8ff915_0_2" title="截圖 2026-07-15 14.45.4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474" y="2384149"/>
            <a:ext cx="3048426" cy="1500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g3f81f8ff915_0_2" title="截圖 2026-07-15 14.46.2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16413" y="2372875"/>
            <a:ext cx="3727700" cy="210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g3f81f8ff915_0_2" title="截圖 2026-07-15 14.46.4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32600" y="2472425"/>
            <a:ext cx="1880975" cy="98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g3f81f8ff915_0_2"/>
          <p:cNvSpPr/>
          <p:nvPr/>
        </p:nvSpPr>
        <p:spPr>
          <a:xfrm>
            <a:off x="2199200" y="3309175"/>
            <a:ext cx="846300" cy="2316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f81f8ff915_0_2"/>
          <p:cNvSpPr/>
          <p:nvPr/>
        </p:nvSpPr>
        <p:spPr>
          <a:xfrm>
            <a:off x="4024213" y="2778713"/>
            <a:ext cx="3726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f81f8ff915_0_2"/>
          <p:cNvSpPr/>
          <p:nvPr/>
        </p:nvSpPr>
        <p:spPr>
          <a:xfrm>
            <a:off x="6194938" y="3589438"/>
            <a:ext cx="6108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g3f81f8ff915_0_2"/>
          <p:cNvSpPr/>
          <p:nvPr/>
        </p:nvSpPr>
        <p:spPr>
          <a:xfrm>
            <a:off x="7132600" y="3159925"/>
            <a:ext cx="1317000" cy="1110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f81f8ff915_0_2"/>
          <p:cNvSpPr/>
          <p:nvPr/>
        </p:nvSpPr>
        <p:spPr>
          <a:xfrm>
            <a:off x="2997925" y="3540775"/>
            <a:ext cx="510600" cy="37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3f81f8ff915_0_2"/>
          <p:cNvSpPr/>
          <p:nvPr/>
        </p:nvSpPr>
        <p:spPr>
          <a:xfrm rot="-1726116">
            <a:off x="6857958" y="3397907"/>
            <a:ext cx="624593" cy="37662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g3f81f8ff915_0_2"/>
          <p:cNvSpPr txBox="1"/>
          <p:nvPr/>
        </p:nvSpPr>
        <p:spPr>
          <a:xfrm>
            <a:off x="7458075" y="3309175"/>
            <a:ext cx="15555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500">
                <a:solidFill>
                  <a:srgbClr val="FF0000"/>
                </a:solidFill>
              </a:rPr>
              <a:t>打勾後儲存</a:t>
            </a:r>
            <a:endParaRPr b="1"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220" name="Google Shape;22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228" name="Google Shape;228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229" name="Google Shape;22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1" name="Google Shape;231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zh-TW" sz="29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9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2" name="Google Shape;232;p14"/>
          <p:cNvPicPr preferRelativeResize="0"/>
          <p:nvPr/>
        </p:nvPicPr>
        <p:blipFill rotWithShape="1">
          <a:blip r:embed="rId5">
            <a:alphaModFix/>
          </a:blip>
          <a:srcRect b="0" l="1574" r="72059" t="0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38" name="Google Shape;23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39" name="Google Shape;23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0" name="Google Shape;240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" name="Google Shape;241;p15"/>
          <p:cNvPicPr preferRelativeResize="0"/>
          <p:nvPr/>
        </p:nvPicPr>
        <p:blipFill rotWithShape="1">
          <a:blip r:embed="rId4">
            <a:alphaModFix/>
          </a:blip>
          <a:srcRect b="0" l="0" r="50985" t="0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2" name="Google Shape;242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48" name="Google Shape;248;p16"/>
          <p:cNvSpPr txBox="1"/>
          <p:nvPr>
            <p:ph idx="1" type="body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49" name="Google Shape;24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0" name="Google Shape;250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Google Shape;251;p16"/>
          <p:cNvPicPr preferRelativeResize="0"/>
          <p:nvPr/>
        </p:nvPicPr>
        <p:blipFill rotWithShape="1">
          <a:blip r:embed="rId4">
            <a:alphaModFix/>
          </a:blip>
          <a:srcRect b="0" l="0" r="76091" t="0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57" name="Google Shape;257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主持人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申請機構</a:t>
            </a:r>
            <a:endParaRPr/>
          </a:p>
        </p:txBody>
      </p:sp>
      <p:pic>
        <p:nvPicPr>
          <p:cNvPr id="258" name="Google Shape;25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9" name="Google Shape;259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pic>
        <p:nvPicPr>
          <p:cNvPr id="265" name="Google Shape;2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66" name="Google Shape;266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7" name="Google Shape;267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8" name="Google Shape;268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9" name="Google Shape;269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1" name="Google Shape;271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2" name="Google Shape;272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3" name="Google Shape;273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9"/>
          <p:cNvSpPr txBox="1"/>
          <p:nvPr>
            <p:ph idx="1" type="body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計劃摘要</a:t>
            </a:r>
            <a:r>
              <a:rPr b="1" lang="zh-TW"/>
              <a:t>：</a:t>
            </a:r>
            <a:r>
              <a:rPr lang="zh-TW"/>
              <a:t>關於計劃的摘要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b="1" lang="zh-TW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79" name="Google Shape;27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80" name="Google Shape;28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1" name="Google Shape;281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800">
                <a:solidFill>
                  <a:srgbClr val="FF0000"/>
                </a:solidFill>
              </a:rPr>
              <a:t>必要欄位一定要選！！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88" name="Google Shape;28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</a:t>
            </a:r>
            <a:r>
              <a:rPr lang="zh-TW"/>
              <a:t>入</a:t>
            </a:r>
            <a:r>
              <a:rPr lang="zh-TW"/>
              <a:t>資料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89" name="Google Shape;289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93" name="Google Shape;293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99" name="Google Shape;299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</a:t>
            </a:r>
            <a:r>
              <a:rPr lang="zh-TW"/>
              <a:t>審查案名稱</a:t>
            </a:r>
            <a:r>
              <a:rPr lang="zh-TW"/>
              <a:t>}_{</a:t>
            </a:r>
            <a:r>
              <a:rPr lang="zh-TW"/>
              <a:t>時間</a:t>
            </a:r>
            <a:r>
              <a:rPr lang="zh-TW"/>
              <a:t>}/...</a:t>
            </a:r>
            <a:endParaRPr/>
          </a:p>
        </p:txBody>
      </p:sp>
      <p:pic>
        <p:nvPicPr>
          <p:cNvPr id="300" name="Google Shape;300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 l="0" r="0" t="0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4f89e88cb_0_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307" name="Google Shape;307;g3f4f89e88cb_0_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install_env.bat </a:t>
            </a:r>
            <a:r>
              <a:rPr lang="zh-TW"/>
              <a:t>若發生錯誤    </a:t>
            </a:r>
            <a:r>
              <a:rPr lang="zh-TW"/>
              <a:t>→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/>
              <a:t>請到控控制台 → 地區 → 系統管理 → 變更系統地區設定 → 看有沒有勾選「Beta: 使用 Unicode UTF-8 提供全球語言支援」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  <p:pic>
        <p:nvPicPr>
          <p:cNvPr id="308" name="Google Shape;308;g3f4f89e88c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0263" y="816488"/>
            <a:ext cx="4581525" cy="73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f4f89e88cb_0_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314" name="Google Shape;314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4f89e88cb_0_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320" name="Google Shape;320;g3f4f89e88cb_0_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</a:t>
            </a:r>
            <a:r>
              <a:rPr lang="zh-TW"/>
              <a:t>需確認在 data/RDF_database 中有 暫存最新人才資料庫 與 統計清單人才資料_RDF_UNI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321" name="Google Shape;321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2" name="Google Shape;322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4" name="Google Shape;324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f4f89e88cb_0_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pic>
        <p:nvPicPr>
          <p:cNvPr id="332" name="Google Shape;332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842950"/>
            <a:ext cx="4468501" cy="2260551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g3f4f89e88cb_0_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NSTC（國家科學及技術委員會研究人才查詢）以「教授名稱＋當前任職單位」取得教授畢業院校（註：部分教授未公開，故查不到）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34" name="Google Shape;334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g3f4f89e88cb_0_46"/>
          <p:cNvSpPr/>
          <p:nvPr/>
        </p:nvSpPr>
        <p:spPr>
          <a:xfrm>
            <a:off x="311700" y="4057375"/>
            <a:ext cx="1837200" cy="263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6" name="Google Shape;336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3850" y="3461150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f4f89e88cb_0_46"/>
          <p:cNvSpPr/>
          <p:nvPr/>
        </p:nvSpPr>
        <p:spPr>
          <a:xfrm>
            <a:off x="5003850" y="3894475"/>
            <a:ext cx="1668000" cy="504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f4f89e88cb_0_46"/>
          <p:cNvSpPr txBox="1"/>
          <p:nvPr/>
        </p:nvSpPr>
        <p:spPr>
          <a:xfrm>
            <a:off x="5003850" y="31982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39" name="Google Shape;339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f4f89e88cb_0_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</a:t>
            </a:r>
            <a:r>
              <a:rPr lang="zh-TW"/>
              <a:t>通過資料</a:t>
            </a:r>
            <a:endParaRPr/>
          </a:p>
        </p:txBody>
      </p:sp>
      <p:sp>
        <p:nvSpPr>
          <p:cNvPr id="345" name="Google Shape;345;g3f4f89e88cb_0_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46" name="Google Shape;346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1" name="Google Shape;351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53" name="Google Shape;353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4f89e88cb_0_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60" name="Google Shape;360;g3f4f89e88cb_0_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indent="-318416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</a:t>
            </a:r>
            <a:r>
              <a:rPr lang="zh-TW" sz="4858"/>
              <a:t>通過」欄不用自己準備——程式會自動補：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indent="-3184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</a:t>
            </a:r>
            <a:r>
              <a:rPr b="1" lang="zh-TW" sz="4858"/>
              <a:t>必要欄位</a:t>
            </a:r>
            <a:r>
              <a:rPr lang="zh-TW" sz="4858"/>
              <a:t>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indent="-3057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4858"/>
              <a:t>必要欄位名稱（確保名稱一致）</a:t>
            </a:r>
            <a:endParaRPr b="1"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b="1" lang="zh-TW" sz="4858"/>
              <a:t>計畫主持人、計畫中文名稱、中文摘要、中文關鍵字</a:t>
            </a:r>
            <a:endParaRPr b="1" sz="4858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61" name="Google Shape;361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67" name="Google Shape;367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74" name="Google Shape;374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