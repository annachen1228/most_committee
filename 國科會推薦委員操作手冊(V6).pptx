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comments+xml" PartName="/ppt/comments/commen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38" roundtripDataSignature="AMtx7mhC4Y2eM0fVj+SLnT+JjXMZcVuFlQ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3" name="Chia-Hui Chang"/>
  <p:cmAuthor clrIdx="1" id="1" initials="" lastIdx="3" name="黃懷萱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commentAuthors" Target="commentAuthor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slide" Target="slides/slide31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38" Type="http://customschemas.google.com/relationships/presentationmetadata" Target="meta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5-06-17T18:17:07.747">
    <p:pos x="98" y="2371"/>
    <p:text>有何快速的方法可以下載?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_8YSgVU"/>
      </p:ext>
    </p:extLst>
  </p:cm>
  <p:cm authorId="1" idx="1" dt="2025-06-17T18:17:07.747">
    <p:pos x="98" y="2371"/>
    <p:text>老師好，目前沒辦法避免環境安裝的問題，已目前專案來說只有兩個路線
1. 整包檔案（下載較久），但可以直接使用
2. 簡易檔案，但使用者需要自己下載套件（可以比較快完成，但是需要使用者自行操作指令，可能會遇到問題）
若要可以很快速的安裝檔案，有某些架構需要重新調整，可能要花不少時間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_85aSf0"/>
      </p:ext>
    </p:extLst>
  </p:cm>
</p:cmLst>
</file>

<file path=ppt/comments/comment2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1" idx="2" dt="2025-05-01T08:30:27.587">
    <p:pos x="96" y="737"/>
    <p:text>檔案都在 P2 的下載連結裡面有附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_85aSf4"/>
      </p:ext>
    </p:extLst>
  </p:cm>
  <p:cm authorId="0" idx="2" dt="2025-05-01T09:43:56.166">
    <p:pos x="96" y="737"/>
    <p:text>P2是指?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_85aSfw"/>
      </p:ext>
    </p:extLst>
  </p:cm>
  <p:cm authorId="0" idx="3" dt="2025-05-01T11:30:51.519">
    <p:pos x="96" y="737"/>
    <p:text>有原始檔嗎?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_8YSgVY"/>
      </p:ext>
    </p:extLst>
  </p:cm>
  <p:cm authorId="1" idx="3" dt="2025-05-01T11:30:51.519">
    <p:pos x="96" y="737"/>
    <p:text>第二頁的下載連結裡面
有附程式碼與資料原始檔案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_8YSgVQ"/>
      </p:ext>
    </p:extLs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" name="Google Shape;6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" name="Google Shape;8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" name="Google Shape;10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f8188b94b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" name="Google Shape;112;g3f8188b94b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f4f89e88cb_0_10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" name="Google Shape;134;g3f4f89e88cb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" name="Google Shape;15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" name="Google Shape;15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" name="Google Shape;16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4" name="Google Shape;17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0" name="Google Shape;18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0" name="Google Shape;19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0" name="Google Shape;200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8" name="Google Shape;208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8" name="Google Shape;218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8" name="Google Shape;228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7" name="Google Shape;237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5" name="Google Shape;245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9" name="Google Shape;259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8" name="Google Shape;268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9" name="Google Shape;279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f4f89e88cb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7" name="Google Shape;287;g3f4f89e88cb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f4f89e88cb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3" name="Google Shape;293;g3f4f89e88cb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f4f89e88cb_0_2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9" name="Google Shape;299;g3f4f89e88cb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3f4f89e88cb_0_4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1" name="Google Shape;311;g3f4f89e88cb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3f4f89e88cb_0_6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4" name="Google Shape;324;g3f4f89e88cb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f4f89e88cb_0_8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9" name="Google Shape;339;g3f4f89e88cb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6" name="Google Shape;346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2" name="Google Shape;352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2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29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31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31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32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3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33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33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33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34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5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35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drive.google.com/drive/folders/1yrLFD6SsjqOV3T37nAB6LskgI7o_EG7c?usp=sharing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1.png"/><Relationship Id="rId6" Type="http://schemas.openxmlformats.org/officeDocument/2006/relationships/hyperlink" Target="https://git-scm.com/downloads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Relationship Id="rId4" Type="http://schemas.openxmlformats.org/officeDocument/2006/relationships/image" Target="../media/image32.png"/><Relationship Id="rId5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8.png"/><Relationship Id="rId4" Type="http://schemas.openxmlformats.org/officeDocument/2006/relationships/hyperlink" Target="https://www.python.org/downloads/release/python-31011/" TargetMode="External"/><Relationship Id="rId5" Type="http://schemas.openxmlformats.org/officeDocument/2006/relationships/image" Target="../media/image5.png"/><Relationship Id="rId6" Type="http://schemas.openxmlformats.org/officeDocument/2006/relationships/image" Target="../media/image3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drive.google.com/drive/folders/1vmnuAJUWGayN9tZjgvZjtRdlW6-VX_Xg?usp=sharing" TargetMode="External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1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comments" Target="../comments/comment1.xml"/><Relationship Id="rId4" Type="http://schemas.openxmlformats.org/officeDocument/2006/relationships/image" Target="../media/image15.png"/><Relationship Id="rId5" Type="http://schemas.openxmlformats.org/officeDocument/2006/relationships/hyperlink" Target="https://drive.google.com/drive/folders/1yrLFD6SsjqOV3T37nAB6LskgI7o_EG7c?usp=sharing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1.png"/><Relationship Id="rId4" Type="http://schemas.openxmlformats.org/officeDocument/2006/relationships/image" Target="../media/image23.png"/><Relationship Id="rId5" Type="http://schemas.openxmlformats.org/officeDocument/2006/relationships/image" Target="../media/image1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0.png"/><Relationship Id="rId4" Type="http://schemas.openxmlformats.org/officeDocument/2006/relationships/image" Target="../media/image2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4.png"/><Relationship Id="rId4" Type="http://schemas.openxmlformats.org/officeDocument/2006/relationships/image" Target="../media/image12.png"/><Relationship Id="rId5" Type="http://schemas.openxmlformats.org/officeDocument/2006/relationships/image" Target="../media/image3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3.png"/><Relationship Id="rId4" Type="http://schemas.openxmlformats.org/officeDocument/2006/relationships/image" Target="../media/image2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9.png"/><Relationship Id="rId4" Type="http://schemas.openxmlformats.org/officeDocument/2006/relationships/image" Target="../media/image1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7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7.png"/><Relationship Id="rId4" Type="http://schemas.openxmlformats.org/officeDocument/2006/relationships/image" Target="../media/image36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9.png"/><Relationship Id="rId4" Type="http://schemas.openxmlformats.org/officeDocument/2006/relationships/image" Target="../media/image40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7.png"/><Relationship Id="rId4" Type="http://schemas.openxmlformats.org/officeDocument/2006/relationships/image" Target="../media/image39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5.png"/><Relationship Id="rId4" Type="http://schemas.openxmlformats.org/officeDocument/2006/relationships/image" Target="../media/image25.png"/><Relationship Id="rId5" Type="http://schemas.openxmlformats.org/officeDocument/2006/relationships/image" Target="../media/image27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comments" Target="../comments/comment2.xml"/><Relationship Id="rId4" Type="http://schemas.openxmlformats.org/officeDocument/2006/relationships/image" Target="../media/image38.png"/><Relationship Id="rId5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 txBox="1"/>
          <p:nvPr>
            <p:ph type="ctrTitle"/>
          </p:nvPr>
        </p:nvSpPr>
        <p:spPr>
          <a:xfrm>
            <a:off x="311700" y="744575"/>
            <a:ext cx="86388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zh-TW" sz="6000"/>
              <a:t>國科會計畫審查委員推薦系統操作手冊</a:t>
            </a:r>
            <a:endParaRPr sz="6000"/>
          </a:p>
        </p:txBody>
      </p:sp>
      <p:sp>
        <p:nvSpPr>
          <p:cNvPr id="55" name="Google Shape;55;p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24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</a:rPr>
              <a:t>https://github.com/AnnaChen1228/MOST_committee.git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zh-TW" sz="7200"/>
              <a:t>前置準備</a:t>
            </a:r>
            <a:endParaRPr sz="7200"/>
          </a:p>
        </p:txBody>
      </p:sp>
      <p:sp>
        <p:nvSpPr>
          <p:cNvPr id="61" name="Google Shape;61;p2"/>
          <p:cNvSpPr txBox="1"/>
          <p:nvPr/>
        </p:nvSpPr>
        <p:spPr>
          <a:xfrm>
            <a:off x="396875" y="3382175"/>
            <a:ext cx="82119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2"/>
          <p:cNvSpPr txBox="1"/>
          <p:nvPr/>
        </p:nvSpPr>
        <p:spPr>
          <a:xfrm>
            <a:off x="21450" y="2912600"/>
            <a:ext cx="9122700" cy="16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zh-TW" sz="2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下載連結： </a:t>
            </a:r>
            <a:r>
              <a:rPr b="0" i="0" lang="zh-TW" sz="43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第六版</a:t>
            </a:r>
            <a:br>
              <a:rPr b="0" i="0" lang="zh-TW" sz="2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zh-TW" sz="2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2025/04/06 更新，過去版本請記得更新</a:t>
            </a:r>
            <a:endParaRPr b="0" i="0" sz="26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t/>
            </a:r>
            <a:endParaRPr b="0" i="0" sz="26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5646" y="1571601"/>
            <a:ext cx="4769749" cy="182272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68" name="Google Shape;68;p3"/>
          <p:cNvSpPr txBox="1"/>
          <p:nvPr>
            <p:ph type="title"/>
          </p:nvPr>
        </p:nvSpPr>
        <p:spPr>
          <a:xfrm>
            <a:off x="301250" y="361925"/>
            <a:ext cx="1586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zh-TW"/>
              <a:t>下載 Git</a:t>
            </a:r>
            <a:endParaRPr b="1"/>
          </a:p>
        </p:txBody>
      </p:sp>
      <p:pic>
        <p:nvPicPr>
          <p:cNvPr id="69" name="Google Shape;69;p3"/>
          <p:cNvPicPr preferRelativeResize="0"/>
          <p:nvPr/>
        </p:nvPicPr>
        <p:blipFill rotWithShape="1">
          <a:blip r:embed="rId4">
            <a:alphaModFix/>
          </a:blip>
          <a:srcRect b="0" l="0" r="69102" t="0"/>
          <a:stretch/>
        </p:blipFill>
        <p:spPr>
          <a:xfrm>
            <a:off x="1508725" y="4047500"/>
            <a:ext cx="17746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06075" y="2161279"/>
            <a:ext cx="3634050" cy="285222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71" name="Google Shape;71;p3"/>
          <p:cNvSpPr txBox="1"/>
          <p:nvPr/>
        </p:nvSpPr>
        <p:spPr>
          <a:xfrm>
            <a:off x="1718075" y="278825"/>
            <a:ext cx="4359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zh-TW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在資料夾內，先預先下載！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zh-TW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可以</a:t>
            </a:r>
            <a:r>
              <a:rPr b="0" i="0" lang="zh-TW" sz="1800" u="sng" cap="none" strike="noStrike">
                <a:solidFill>
                  <a:schemeClr val="hlink"/>
                </a:solidFill>
                <a:highlight>
                  <a:srgbClr val="FFF2CC"/>
                </a:highlight>
                <a:latin typeface="Arial"/>
                <a:ea typeface="Arial"/>
                <a:cs typeface="Arial"/>
                <a:sym typeface="Arial"/>
                <a:hlinkClick r:id="rId6"/>
              </a:rPr>
              <a:t>連結</a:t>
            </a:r>
            <a:r>
              <a:rPr b="0" i="0" lang="zh-TW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下載最新版本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3"/>
          <p:cNvSpPr/>
          <p:nvPr/>
        </p:nvSpPr>
        <p:spPr>
          <a:xfrm rot="5400000">
            <a:off x="1911225" y="1326275"/>
            <a:ext cx="969600" cy="3525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648700" y="2133750"/>
            <a:ext cx="1897800" cy="6063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3"/>
          <p:cNvSpPr txBox="1"/>
          <p:nvPr/>
        </p:nvSpPr>
        <p:spPr>
          <a:xfrm>
            <a:off x="2525250" y="1119675"/>
            <a:ext cx="2697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zh-TW" sz="15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Note: 選擇屬於你的作業系統</a:t>
            </a:r>
            <a:endParaRPr b="0" i="0" sz="15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3"/>
          <p:cNvSpPr/>
          <p:nvPr/>
        </p:nvSpPr>
        <p:spPr>
          <a:xfrm rot="5400000">
            <a:off x="2157225" y="3532625"/>
            <a:ext cx="477600" cy="3525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3355025" y="4023650"/>
            <a:ext cx="1820400" cy="3525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3"/>
          <p:cNvSpPr txBox="1"/>
          <p:nvPr/>
        </p:nvSpPr>
        <p:spPr>
          <a:xfrm>
            <a:off x="3290825" y="4267225"/>
            <a:ext cx="1948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zh-TW" sz="15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Install 一直按下去</a:t>
            </a:r>
            <a:endParaRPr b="0" i="0" sz="15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zh-TW"/>
              <a:t>請預先下載避免遇到這個問題</a:t>
            </a:r>
            <a:endParaRPr b="1"/>
          </a:p>
        </p:txBody>
      </p:sp>
      <p:sp>
        <p:nvSpPr>
          <p:cNvPr id="83" name="Google Shape;83;p4"/>
          <p:cNvSpPr txBox="1"/>
          <p:nvPr>
            <p:ph idx="1" type="body"/>
          </p:nvPr>
        </p:nvSpPr>
        <p:spPr>
          <a:xfrm>
            <a:off x="332625" y="957750"/>
            <a:ext cx="8520600" cy="4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325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ct val="395604"/>
              <a:buNone/>
            </a:pPr>
            <a:r>
              <a:rPr b="1" lang="zh-TW" sz="1400"/>
              <a:t>下載連結: https://visualstudio.microsoft.com/zh-hant/visual-cpp-build-tools/ </a:t>
            </a:r>
            <a:endParaRPr b="1" sz="1400"/>
          </a:p>
        </p:txBody>
      </p:sp>
      <p:sp>
        <p:nvSpPr>
          <p:cNvPr id="84" name="Google Shape;84;p4"/>
          <p:cNvSpPr txBox="1"/>
          <p:nvPr/>
        </p:nvSpPr>
        <p:spPr>
          <a:xfrm>
            <a:off x="5201525" y="414400"/>
            <a:ext cx="3942600" cy="5817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zh-TW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Error: Microsoft Visual C++ 14.0 or greater is required. </a:t>
            </a:r>
            <a:br>
              <a:rPr b="0" i="0" lang="zh-TW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zh-TW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Get it with "Microsoft C++ Build Tools": </a:t>
            </a:r>
            <a:endParaRPr b="0" i="0" sz="12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5" name="Google Shape;85;p4"/>
          <p:cNvGrpSpPr/>
          <p:nvPr/>
        </p:nvGrpSpPr>
        <p:grpSpPr>
          <a:xfrm>
            <a:off x="337856" y="1921880"/>
            <a:ext cx="8057678" cy="3036838"/>
            <a:chOff x="256775" y="2536675"/>
            <a:chExt cx="9064775" cy="3416400"/>
          </a:xfrm>
        </p:grpSpPr>
        <p:pic>
          <p:nvPicPr>
            <p:cNvPr id="86" name="Google Shape;86;p4"/>
            <p:cNvPicPr preferRelativeResize="0"/>
            <p:nvPr/>
          </p:nvPicPr>
          <p:blipFill rotWithShape="1">
            <a:blip r:embed="rId3">
              <a:alphaModFix/>
            </a:blip>
            <a:srcRect b="0" l="1146" r="0" t="0"/>
            <a:stretch/>
          </p:blipFill>
          <p:spPr>
            <a:xfrm>
              <a:off x="317150" y="2536675"/>
              <a:ext cx="7660350" cy="34164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87" name="Google Shape;87;p4"/>
            <p:cNvSpPr/>
            <p:nvPr/>
          </p:nvSpPr>
          <p:spPr>
            <a:xfrm>
              <a:off x="256775" y="2815000"/>
              <a:ext cx="3747000" cy="1062900"/>
            </a:xfrm>
            <a:prstGeom prst="rect">
              <a:avLst/>
            </a:prstGeom>
            <a:noFill/>
            <a:ln cap="flat" cmpd="sng" w="28575">
              <a:solidFill>
                <a:srgbClr val="E06666"/>
              </a:solidFill>
              <a:prstDash val="dashDot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88" name="Google Shape;88;p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919707" y="4997711"/>
              <a:ext cx="2401843" cy="572700"/>
            </a:xfrm>
            <a:prstGeom prst="rect">
              <a:avLst/>
            </a:prstGeom>
            <a:noFill/>
            <a:ln cap="flat" cmpd="sng" w="19050">
              <a:solidFill>
                <a:srgbClr val="CC0000"/>
              </a:solidFill>
              <a:prstDash val="dashDot"/>
              <a:round/>
              <a:headEnd len="sm" w="sm" type="none"/>
              <a:tailEnd len="sm" w="sm" type="none"/>
            </a:ln>
          </p:spPr>
        </p:pic>
        <p:grpSp>
          <p:nvGrpSpPr>
            <p:cNvPr id="89" name="Google Shape;89;p4"/>
            <p:cNvGrpSpPr/>
            <p:nvPr/>
          </p:nvGrpSpPr>
          <p:grpSpPr>
            <a:xfrm>
              <a:off x="3191875" y="2577800"/>
              <a:ext cx="461700" cy="519600"/>
              <a:chOff x="-885075" y="296575"/>
              <a:chExt cx="461700" cy="519600"/>
            </a:xfrm>
          </p:grpSpPr>
          <p:sp>
            <p:nvSpPr>
              <p:cNvPr id="90" name="Google Shape;90;p4"/>
              <p:cNvSpPr/>
              <p:nvPr/>
            </p:nvSpPr>
            <p:spPr>
              <a:xfrm>
                <a:off x="-885075" y="296575"/>
                <a:ext cx="461700" cy="461700"/>
              </a:xfrm>
              <a:prstGeom prst="ellipse">
                <a:avLst/>
              </a:prstGeom>
              <a:solidFill>
                <a:srgbClr val="D9EAD3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" name="Google Shape;91;p4"/>
              <p:cNvSpPr txBox="1"/>
              <p:nvPr/>
            </p:nvSpPr>
            <p:spPr>
              <a:xfrm>
                <a:off x="-865425" y="296575"/>
                <a:ext cx="422400" cy="519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1" i="0" lang="zh-TW" sz="1800" u="none" cap="none" strike="noStrike">
                    <a:solidFill>
                      <a:srgbClr val="38761D"/>
                    </a:solidFill>
                    <a:latin typeface="Arial"/>
                    <a:ea typeface="Arial"/>
                    <a:cs typeface="Arial"/>
                    <a:sym typeface="Arial"/>
                  </a:rPr>
                  <a:t>１</a:t>
                </a:r>
                <a:endParaRPr b="1" i="0" sz="1800" u="none" cap="none" strike="noStrike">
                  <a:solidFill>
                    <a:srgbClr val="3876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92" name="Google Shape;92;p4"/>
            <p:cNvGrpSpPr/>
            <p:nvPr/>
          </p:nvGrpSpPr>
          <p:grpSpPr>
            <a:xfrm>
              <a:off x="6677092" y="4712317"/>
              <a:ext cx="461709" cy="519600"/>
              <a:chOff x="-444033" y="-561508"/>
              <a:chExt cx="461709" cy="519600"/>
            </a:xfrm>
          </p:grpSpPr>
          <p:sp>
            <p:nvSpPr>
              <p:cNvPr id="93" name="Google Shape;93;p4"/>
              <p:cNvSpPr/>
              <p:nvPr/>
            </p:nvSpPr>
            <p:spPr>
              <a:xfrm>
                <a:off x="-444024" y="-532568"/>
                <a:ext cx="461700" cy="461700"/>
              </a:xfrm>
              <a:prstGeom prst="ellipse">
                <a:avLst/>
              </a:prstGeom>
              <a:solidFill>
                <a:srgbClr val="D9EAD3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4" name="Google Shape;94;p4"/>
              <p:cNvSpPr txBox="1"/>
              <p:nvPr/>
            </p:nvSpPr>
            <p:spPr>
              <a:xfrm>
                <a:off x="-444033" y="-561508"/>
                <a:ext cx="422400" cy="519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1" i="0" lang="zh-TW" sz="1800" u="none" cap="none" strike="noStrike">
                    <a:solidFill>
                      <a:srgbClr val="38761D"/>
                    </a:solidFill>
                    <a:latin typeface="Arial"/>
                    <a:ea typeface="Arial"/>
                    <a:cs typeface="Arial"/>
                    <a:sym typeface="Arial"/>
                  </a:rPr>
                  <a:t>２</a:t>
                </a:r>
                <a:endParaRPr b="1" i="0" sz="1800" u="none" cap="none" strike="noStrike">
                  <a:solidFill>
                    <a:srgbClr val="3876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95" name="Google Shape;95;p4"/>
            <p:cNvGrpSpPr/>
            <p:nvPr/>
          </p:nvGrpSpPr>
          <p:grpSpPr>
            <a:xfrm>
              <a:off x="3191875" y="2577800"/>
              <a:ext cx="461700" cy="519600"/>
              <a:chOff x="-885075" y="296575"/>
              <a:chExt cx="461700" cy="519600"/>
            </a:xfrm>
          </p:grpSpPr>
          <p:sp>
            <p:nvSpPr>
              <p:cNvPr id="96" name="Google Shape;96;p4"/>
              <p:cNvSpPr/>
              <p:nvPr/>
            </p:nvSpPr>
            <p:spPr>
              <a:xfrm>
                <a:off x="-885075" y="296575"/>
                <a:ext cx="461700" cy="461700"/>
              </a:xfrm>
              <a:prstGeom prst="ellipse">
                <a:avLst/>
              </a:prstGeom>
              <a:solidFill>
                <a:srgbClr val="D9EAD3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7" name="Google Shape;97;p4"/>
              <p:cNvSpPr txBox="1"/>
              <p:nvPr/>
            </p:nvSpPr>
            <p:spPr>
              <a:xfrm>
                <a:off x="-885056" y="296575"/>
                <a:ext cx="422400" cy="519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1" i="0" lang="zh-TW" sz="1800" u="none" cap="none" strike="noStrike">
                    <a:solidFill>
                      <a:srgbClr val="38761D"/>
                    </a:solidFill>
                    <a:latin typeface="Arial"/>
                    <a:ea typeface="Arial"/>
                    <a:cs typeface="Arial"/>
                    <a:sym typeface="Arial"/>
                  </a:rPr>
                  <a:t>１</a:t>
                </a:r>
                <a:endParaRPr b="1" i="0" sz="1800" u="none" cap="none" strike="noStrike">
                  <a:solidFill>
                    <a:srgbClr val="38761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pic>
        <p:nvPicPr>
          <p:cNvPr id="98" name="Google Shape;98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32625" y="1632586"/>
            <a:ext cx="6014431" cy="28925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4"/>
          <p:cNvSpPr/>
          <p:nvPr/>
        </p:nvSpPr>
        <p:spPr>
          <a:xfrm>
            <a:off x="4648725" y="607475"/>
            <a:ext cx="477600" cy="2478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4"/>
          <p:cNvSpPr/>
          <p:nvPr/>
        </p:nvSpPr>
        <p:spPr>
          <a:xfrm rot="5400000">
            <a:off x="403000" y="1260945"/>
            <a:ext cx="274500" cy="3525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b="1" lang="zh-TW" sz="1400"/>
              <a:t>Waiting… 會很久！</a:t>
            </a:r>
            <a:endParaRPr b="1" sz="1400"/>
          </a:p>
        </p:txBody>
      </p:sp>
      <p:pic>
        <p:nvPicPr>
          <p:cNvPr id="106" name="Google Shape;10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700" y="1616125"/>
            <a:ext cx="8647474" cy="34164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07" name="Google Shape;107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zh-TW"/>
              <a:t>請預先下載避免遇到這個問題</a:t>
            </a:r>
            <a:endParaRPr b="1"/>
          </a:p>
        </p:txBody>
      </p:sp>
      <p:sp>
        <p:nvSpPr>
          <p:cNvPr id="108" name="Google Shape;108;p5"/>
          <p:cNvSpPr txBox="1"/>
          <p:nvPr/>
        </p:nvSpPr>
        <p:spPr>
          <a:xfrm>
            <a:off x="5201525" y="414400"/>
            <a:ext cx="3942600" cy="5817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zh-TW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Error: Microsoft Visual C++ 14.0 or greater is required. </a:t>
            </a:r>
            <a:br>
              <a:rPr b="0" i="0" lang="zh-TW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zh-TW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Get it with "Microsoft C++ Build Tools": </a:t>
            </a:r>
            <a:endParaRPr b="0" i="0" sz="12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5"/>
          <p:cNvSpPr/>
          <p:nvPr/>
        </p:nvSpPr>
        <p:spPr>
          <a:xfrm>
            <a:off x="4648725" y="607475"/>
            <a:ext cx="477600" cy="2478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g3f8188b94b7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1650" y="1634351"/>
            <a:ext cx="4843490" cy="2313975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g3f8188b94b7_0_0"/>
          <p:cNvSpPr txBox="1"/>
          <p:nvPr>
            <p:ph type="title"/>
          </p:nvPr>
        </p:nvSpPr>
        <p:spPr>
          <a:xfrm>
            <a:off x="301250" y="361925"/>
            <a:ext cx="1586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zh-TW"/>
              <a:t>下載 python 3.10.11</a:t>
            </a:r>
            <a:endParaRPr b="1"/>
          </a:p>
        </p:txBody>
      </p:sp>
      <p:sp>
        <p:nvSpPr>
          <p:cNvPr id="116" name="Google Shape;116;g3f8188b94b7_0_0"/>
          <p:cNvSpPr txBox="1"/>
          <p:nvPr/>
        </p:nvSpPr>
        <p:spPr>
          <a:xfrm>
            <a:off x="1725550" y="409600"/>
            <a:ext cx="4359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zh-TW" sz="1800">
                <a:solidFill>
                  <a:schemeClr val="dk2"/>
                </a:solidFill>
              </a:rPr>
              <a:t>下載 </a:t>
            </a:r>
            <a:r>
              <a:rPr lang="zh-TW" sz="1800" u="sng">
                <a:solidFill>
                  <a:schemeClr val="hlink"/>
                </a:solidFill>
                <a:hlinkClick r:id="rId4"/>
              </a:rPr>
              <a:t>python 3.10.11</a:t>
            </a:r>
            <a:r>
              <a:rPr lang="zh-TW" sz="1800">
                <a:solidFill>
                  <a:schemeClr val="dk2"/>
                </a:solidFill>
              </a:rPr>
              <a:t> 到電腦中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g3f8188b94b7_0_0"/>
          <p:cNvSpPr/>
          <p:nvPr/>
        </p:nvSpPr>
        <p:spPr>
          <a:xfrm rot="5400000">
            <a:off x="1911225" y="1326275"/>
            <a:ext cx="969600" cy="3525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g3f8188b94b7_0_0"/>
          <p:cNvSpPr/>
          <p:nvPr/>
        </p:nvSpPr>
        <p:spPr>
          <a:xfrm>
            <a:off x="321975" y="3055600"/>
            <a:ext cx="4686900" cy="4155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g3f8188b94b7_0_0"/>
          <p:cNvSpPr txBox="1"/>
          <p:nvPr/>
        </p:nvSpPr>
        <p:spPr>
          <a:xfrm>
            <a:off x="2525250" y="1119675"/>
            <a:ext cx="2697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zh-TW" sz="15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Note: 選擇屬於你的作業系統</a:t>
            </a:r>
            <a:endParaRPr b="0" i="0" sz="15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g3f8188b94b7_0_0"/>
          <p:cNvSpPr/>
          <p:nvPr/>
        </p:nvSpPr>
        <p:spPr>
          <a:xfrm rot="5400000">
            <a:off x="2157225" y="3583050"/>
            <a:ext cx="477600" cy="3525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g3f8188b94b7_0_0"/>
          <p:cNvSpPr/>
          <p:nvPr/>
        </p:nvSpPr>
        <p:spPr>
          <a:xfrm>
            <a:off x="3355025" y="4023650"/>
            <a:ext cx="1820400" cy="3525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g3f8188b94b7_0_0"/>
          <p:cNvSpPr txBox="1"/>
          <p:nvPr/>
        </p:nvSpPr>
        <p:spPr>
          <a:xfrm>
            <a:off x="3290825" y="4267225"/>
            <a:ext cx="1948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zh-TW" sz="15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Install 一直按下去</a:t>
            </a:r>
            <a:endParaRPr b="0" i="0" sz="15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3" name="Google Shape;123;g3f8188b94b7_0_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34013" y="4047500"/>
            <a:ext cx="1724025" cy="276225"/>
          </a:xfrm>
          <a:prstGeom prst="rect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24" name="Google Shape;124;g3f8188b94b7_0_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312875" y="2719275"/>
            <a:ext cx="3663775" cy="2330078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g3f8188b94b7_0_0"/>
          <p:cNvSpPr/>
          <p:nvPr/>
        </p:nvSpPr>
        <p:spPr>
          <a:xfrm>
            <a:off x="6384578" y="3471100"/>
            <a:ext cx="1899000" cy="5271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zh-TW"/>
              <a:t>準備檔案</a:t>
            </a:r>
            <a:endParaRPr/>
          </a:p>
        </p:txBody>
      </p:sp>
      <p:sp>
        <p:nvSpPr>
          <p:cNvPr id="131" name="Google Shape;131;p6"/>
          <p:cNvSpPr txBox="1"/>
          <p:nvPr/>
        </p:nvSpPr>
        <p:spPr>
          <a:xfrm>
            <a:off x="396875" y="3382175"/>
            <a:ext cx="82119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f4f89e88cb_0_10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TW"/>
              <a:t>檔案介紹 → 下載後直接放入資料夾中</a:t>
            </a:r>
            <a:endParaRPr/>
          </a:p>
        </p:txBody>
      </p:sp>
      <p:sp>
        <p:nvSpPr>
          <p:cNvPr id="137" name="Google Shape;137;g3f4f89e88cb_0_105"/>
          <p:cNvSpPr txBox="1"/>
          <p:nvPr>
            <p:ph idx="1" type="body"/>
          </p:nvPr>
        </p:nvSpPr>
        <p:spPr>
          <a:xfrm>
            <a:off x="311700" y="105810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g3f4f89e88cb_0_105"/>
          <p:cNvSpPr txBox="1"/>
          <p:nvPr/>
        </p:nvSpPr>
        <p:spPr>
          <a:xfrm>
            <a:off x="157075" y="3764300"/>
            <a:ext cx="40308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zh-TW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檔案在這：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zh-TW" sz="18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https://drive.google.com/drive/folders/1vmnuAJUWGayN9tZjgvZjtRdlW6-VX_Xg?usp=sharing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9" name="Google Shape;139;g3f4f89e88cb_0_105" title="截圖 2026-07-13 15.22.57.png"/>
          <p:cNvPicPr preferRelativeResize="0"/>
          <p:nvPr/>
        </p:nvPicPr>
        <p:blipFill rotWithShape="1">
          <a:blip r:embed="rId4">
            <a:alphaModFix/>
          </a:blip>
          <a:srcRect b="0" l="0" r="70532" t="0"/>
          <a:stretch/>
        </p:blipFill>
        <p:spPr>
          <a:xfrm>
            <a:off x="377550" y="2065575"/>
            <a:ext cx="2694575" cy="1764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g3f4f89e88cb_0_105" title="截圖 2026-07-13 15.23.19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48086" y="3353121"/>
            <a:ext cx="2836560" cy="165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g3f4f89e88cb_0_105" title="截圖 2026-07-13 15.23.42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684825" y="1017725"/>
            <a:ext cx="2871375" cy="22306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2" name="Google Shape;142;g3f4f89e88cb_0_105"/>
          <p:cNvCxnSpPr/>
          <p:nvPr/>
        </p:nvCxnSpPr>
        <p:spPr>
          <a:xfrm flipH="1" rot="10800000">
            <a:off x="3072125" y="2102300"/>
            <a:ext cx="1396500" cy="84570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3" name="Google Shape;143;g3f4f89e88cb_0_105"/>
          <p:cNvSpPr/>
          <p:nvPr/>
        </p:nvSpPr>
        <p:spPr>
          <a:xfrm>
            <a:off x="442200" y="2885950"/>
            <a:ext cx="2629800" cy="271500"/>
          </a:xfrm>
          <a:prstGeom prst="rect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g3f4f89e88cb_0_105"/>
          <p:cNvSpPr/>
          <p:nvPr/>
        </p:nvSpPr>
        <p:spPr>
          <a:xfrm>
            <a:off x="4751475" y="1058100"/>
            <a:ext cx="2629800" cy="2021700"/>
          </a:xfrm>
          <a:prstGeom prst="rect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g3f4f89e88cb_0_105"/>
          <p:cNvSpPr/>
          <p:nvPr/>
        </p:nvSpPr>
        <p:spPr>
          <a:xfrm>
            <a:off x="442200" y="3157450"/>
            <a:ext cx="2629800" cy="271500"/>
          </a:xfrm>
          <a:prstGeom prst="rect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g3f4f89e88cb_0_105"/>
          <p:cNvSpPr/>
          <p:nvPr/>
        </p:nvSpPr>
        <p:spPr>
          <a:xfrm>
            <a:off x="4684875" y="3428950"/>
            <a:ext cx="1180200" cy="1419600"/>
          </a:xfrm>
          <a:prstGeom prst="rect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47" name="Google Shape;147;g3f4f89e88cb_0_105"/>
          <p:cNvCxnSpPr>
            <a:endCxn id="146" idx="1"/>
          </p:cNvCxnSpPr>
          <p:nvPr/>
        </p:nvCxnSpPr>
        <p:spPr>
          <a:xfrm>
            <a:off x="3072075" y="3293050"/>
            <a:ext cx="1612800" cy="8457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8" name="Google Shape;148;g3f4f89e88cb_0_105"/>
          <p:cNvSpPr txBox="1"/>
          <p:nvPr/>
        </p:nvSpPr>
        <p:spPr>
          <a:xfrm>
            <a:off x="6051275" y="3622949"/>
            <a:ext cx="2967300" cy="12621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2"/>
                </a:solidFill>
              </a:rPr>
              <a:t>資料庫資料 </a:t>
            </a:r>
            <a:endParaRPr>
              <a:solidFill>
                <a:schemeClr val="dk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zh-TW">
                <a:solidFill>
                  <a:schemeClr val="dk2"/>
                </a:solidFill>
              </a:rPr>
              <a:t>研究計劃 108-114</a:t>
            </a:r>
            <a:endParaRPr>
              <a:solidFill>
                <a:schemeClr val="dk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zh-TW">
                <a:solidFill>
                  <a:schemeClr val="dk2"/>
                </a:solidFill>
              </a:rPr>
              <a:t>產學 108-114核定計畫名單(含關鍵字與摘要)20260223_產學計畫案.xlsx</a:t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TW"/>
              <a:t>檔案介紹 → </a:t>
            </a:r>
            <a:r>
              <a:rPr lang="zh-TW"/>
              <a:t>下載後直接放入資料夾中(包含data/database)</a:t>
            </a:r>
            <a:endParaRPr/>
          </a:p>
        </p:txBody>
      </p:sp>
      <p:sp>
        <p:nvSpPr>
          <p:cNvPr id="154" name="Google Shape;154;p7"/>
          <p:cNvSpPr txBox="1"/>
          <p:nvPr>
            <p:ph idx="1" type="body"/>
          </p:nvPr>
        </p:nvSpPr>
        <p:spPr>
          <a:xfrm>
            <a:off x="311700" y="105810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crawler: 爬取碩博士論文的網站，作為推薦委員的參考資料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industry_coop: 產學合作資料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research_proj: 研究計畫資料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RDF_database: </a:t>
            </a:r>
            <a:r>
              <a:rPr lang="zh-TW"/>
              <a:t>申請案件中教授紀錄，用於後續教授資訊更新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output: 輸出的資料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past_data: 過去的資料</a:t>
            </a:r>
            <a:endParaRPr/>
          </a:p>
        </p:txBody>
      </p:sp>
      <p:pic>
        <p:nvPicPr>
          <p:cNvPr id="155" name="Google Shape;155;p7"/>
          <p:cNvPicPr preferRelativeResize="0"/>
          <p:nvPr/>
        </p:nvPicPr>
        <p:blipFill rotWithShape="1">
          <a:blip r:embed="rId4">
            <a:alphaModFix/>
          </a:blip>
          <a:srcRect b="0" l="0" r="59933" t="0"/>
          <a:stretch/>
        </p:blipFill>
        <p:spPr>
          <a:xfrm>
            <a:off x="5760675" y="2789022"/>
            <a:ext cx="3071625" cy="211397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56" name="Google Shape;156;p7"/>
          <p:cNvSpPr txBox="1"/>
          <p:nvPr/>
        </p:nvSpPr>
        <p:spPr>
          <a:xfrm>
            <a:off x="157075" y="3764300"/>
            <a:ext cx="40308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zh-TW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檔案在這：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zh-TW" sz="1800" u="sng">
                <a:solidFill>
                  <a:schemeClr val="hlink"/>
                </a:solidFill>
                <a:hlinkClick r:id="rId5"/>
              </a:rPr>
              <a:t>https://drive.google.com/drive/folders/1yrLFD6SsjqOV3T37nAB6LskgI7o_EG7c?usp=sharing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zh-TW"/>
              <a:t>準備的資料</a:t>
            </a:r>
            <a:endParaRPr b="1"/>
          </a:p>
        </p:txBody>
      </p:sp>
      <p:sp>
        <p:nvSpPr>
          <p:cNvPr id="162" name="Google Shape;162;p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/>
              <a:t>推薦委員有分成兩類：「研究計畫」、「產學合作」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163" name="Google Shape;16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125" y="1761250"/>
            <a:ext cx="8949752" cy="3125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8"/>
          <p:cNvSpPr txBox="1"/>
          <p:nvPr/>
        </p:nvSpPr>
        <p:spPr>
          <a:xfrm>
            <a:off x="97125" y="3004975"/>
            <a:ext cx="5476500" cy="17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zh-TW" sz="1700" u="none" cap="none" strike="noStrike">
                <a:solidFill>
                  <a:schemeClr val="dk1"/>
                </a:solidFill>
                <a:highlight>
                  <a:srgbClr val="EA9999"/>
                </a:highlight>
                <a:latin typeface="Calibri"/>
                <a:ea typeface="Calibri"/>
                <a:cs typeface="Calibri"/>
                <a:sym typeface="Calibri"/>
              </a:rPr>
              <a:t>Industry_coop = </a:t>
            </a:r>
            <a:r>
              <a:rPr b="0" i="0" lang="zh-TW" sz="1700" u="none" cap="none" strike="noStrike">
                <a:solidFill>
                  <a:schemeClr val="dk1"/>
                </a:solidFill>
                <a:highlight>
                  <a:srgbClr val="EA9999"/>
                </a:highlight>
                <a:latin typeface="Arial"/>
                <a:ea typeface="Arial"/>
                <a:cs typeface="Arial"/>
                <a:sym typeface="Arial"/>
              </a:rPr>
              <a:t>產學合作</a:t>
            </a:r>
            <a:endParaRPr b="0" i="0" sz="1700" u="none" cap="none" strike="noStrike">
              <a:solidFill>
                <a:schemeClr val="dk1"/>
              </a:solidFill>
              <a:highlight>
                <a:srgbClr val="EA9999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zh-TW" sz="1700" u="none" cap="none" strike="noStrike">
                <a:solidFill>
                  <a:schemeClr val="dk1"/>
                </a:solidFill>
                <a:highlight>
                  <a:srgbClr val="EA9999"/>
                </a:highlight>
                <a:latin typeface="Calibri"/>
                <a:ea typeface="Calibri"/>
                <a:cs typeface="Calibri"/>
                <a:sym typeface="Calibri"/>
              </a:rPr>
              <a:t>Research_proj = 研究計畫</a:t>
            </a:r>
            <a:endParaRPr b="0" i="0" sz="1700" u="none" cap="none" strike="noStrike">
              <a:solidFill>
                <a:schemeClr val="dk1"/>
              </a:solidFill>
              <a:highlight>
                <a:srgbClr val="EA9999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zh-TW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也就是說再進行推薦時要先確認是屬於那一類</a:t>
            </a:r>
            <a:br>
              <a:rPr b="0" i="0" lang="zh-TW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zh-TW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推薦委員的來源會有差異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zh-TW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b="0" i="0" lang="zh-TW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因此拿到的資料要根據分類放到不同的資料夾中</a:t>
            </a:r>
            <a:r>
              <a:rPr b="0" i="0" lang="zh-TW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TW"/>
              <a:t>欄位：</a:t>
            </a:r>
            <a:endParaRPr/>
          </a:p>
        </p:txBody>
      </p:sp>
      <p:pic>
        <p:nvPicPr>
          <p:cNvPr id="170" name="Google Shape;170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106283"/>
            <a:ext cx="9143999" cy="1274584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71" name="Google Shape;171;p9"/>
          <p:cNvSpPr txBox="1"/>
          <p:nvPr/>
        </p:nvSpPr>
        <p:spPr>
          <a:xfrm>
            <a:off x="126000" y="1119675"/>
            <a:ext cx="8818200" cy="15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zh-TW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推薦的依據是倚靠：「計劃名稱」＋「計劃摘要」＋「關鍵字」</a:t>
            </a:r>
            <a:endParaRPr b="0" i="0" sz="17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zh-TW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篩選的依據是倚靠：「申請人」＋「申請機構」＋「共同申請人」＋「共同申請機構」</a:t>
            </a:r>
            <a:endParaRPr b="0" i="0" sz="17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zh-TW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若收到的檔案缺少很多，尤其是推薦的依據，請對方補上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zh-TW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否則結果會比較不準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zh-TW" sz="6500"/>
              <a:t>開始</a:t>
            </a:r>
            <a:endParaRPr sz="6500"/>
          </a:p>
        </p:txBody>
      </p:sp>
      <p:sp>
        <p:nvSpPr>
          <p:cNvPr id="177" name="Google Shape;177;p10"/>
          <p:cNvSpPr txBox="1"/>
          <p:nvPr/>
        </p:nvSpPr>
        <p:spPr>
          <a:xfrm>
            <a:off x="78800" y="1890100"/>
            <a:ext cx="5937300" cy="32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zh-TW" sz="2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執行順序一定是：</a:t>
            </a:r>
            <a:endParaRPr b="0" i="0" sz="2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6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Arial"/>
              <a:buAutoNum type="arabicPeriod"/>
            </a:pPr>
            <a:r>
              <a:rPr b="0" i="0" lang="zh-TW" sz="2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git_pull</a:t>
            </a:r>
            <a:endParaRPr b="0" i="0" sz="2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6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Arial"/>
              <a:buAutoNum type="arabicPeriod"/>
            </a:pPr>
            <a:r>
              <a:rPr b="0" i="0" lang="zh-TW" sz="2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install_env</a:t>
            </a:r>
            <a:endParaRPr b="0" i="0" sz="2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6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Arial"/>
              <a:buAutoNum type="arabicPeriod"/>
            </a:pPr>
            <a:r>
              <a:rPr b="0" i="0" lang="zh-TW" sz="2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windows_setting</a:t>
            </a:r>
            <a:endParaRPr b="0" i="0" sz="2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06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Arial"/>
              <a:buAutoNum type="arabicPeriod"/>
            </a:pPr>
            <a:r>
              <a:rPr b="0" i="0" lang="zh-TW" sz="2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windows</a:t>
            </a:r>
            <a:endParaRPr b="0" i="0" sz="2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zh-TW" sz="2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( 如果失敗請按照順序執行看看)</a:t>
            </a:r>
            <a:endParaRPr b="0" i="0" sz="2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TW"/>
              <a:t>Step 1: 更新版本</a:t>
            </a:r>
            <a:endParaRPr/>
          </a:p>
        </p:txBody>
      </p:sp>
      <p:pic>
        <p:nvPicPr>
          <p:cNvPr id="183" name="Google Shape;183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700" y="1100825"/>
            <a:ext cx="5274644" cy="269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1700" y="2714875"/>
            <a:ext cx="2544925" cy="54795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11"/>
          <p:cNvSpPr txBox="1"/>
          <p:nvPr/>
        </p:nvSpPr>
        <p:spPr>
          <a:xfrm>
            <a:off x="277425" y="1466850"/>
            <a:ext cx="7370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zh-TW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在資料夾內，先預先點擊（必須在下載 git 之後 )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11"/>
          <p:cNvSpPr txBox="1"/>
          <p:nvPr/>
        </p:nvSpPr>
        <p:spPr>
          <a:xfrm>
            <a:off x="311700" y="3354650"/>
            <a:ext cx="7370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zh-TW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已經最新了！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11"/>
          <p:cNvSpPr/>
          <p:nvPr/>
        </p:nvSpPr>
        <p:spPr>
          <a:xfrm rot="5400000">
            <a:off x="306825" y="2060100"/>
            <a:ext cx="556500" cy="4668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TW"/>
              <a:t>Step 2: 安裝環境</a:t>
            </a:r>
            <a:endParaRPr/>
          </a:p>
        </p:txBody>
      </p:sp>
      <p:pic>
        <p:nvPicPr>
          <p:cNvPr id="193" name="Google Shape;193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700" y="1017725"/>
            <a:ext cx="8023675" cy="462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1706" y="1629520"/>
            <a:ext cx="3826517" cy="21292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31900" y="3194879"/>
            <a:ext cx="4528475" cy="185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2"/>
          <p:cNvSpPr/>
          <p:nvPr/>
        </p:nvSpPr>
        <p:spPr>
          <a:xfrm rot="2093778">
            <a:off x="3793906" y="3390892"/>
            <a:ext cx="1059268" cy="376667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12"/>
          <p:cNvSpPr txBox="1"/>
          <p:nvPr/>
        </p:nvSpPr>
        <p:spPr>
          <a:xfrm>
            <a:off x="5335375" y="500525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zh-TW" sz="1800" u="none" cap="none" strike="noStrike">
                <a:solidFill>
                  <a:schemeClr val="dk2"/>
                </a:solidFill>
                <a:highlight>
                  <a:srgbClr val="FCE5CD"/>
                </a:highlight>
                <a:latin typeface="Arial"/>
                <a:ea typeface="Arial"/>
                <a:cs typeface="Arial"/>
                <a:sym typeface="Arial"/>
              </a:rPr>
              <a:t>直接點擊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TW"/>
              <a:t>Step3: 設定要執行的計劃 </a:t>
            </a:r>
            <a:endParaRPr/>
          </a:p>
        </p:txBody>
      </p:sp>
      <p:pic>
        <p:nvPicPr>
          <p:cNvPr id="203" name="Google Shape;203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700" y="1123450"/>
            <a:ext cx="8465201" cy="43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1700" y="1864875"/>
            <a:ext cx="6257124" cy="2213375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13"/>
          <p:cNvSpPr txBox="1"/>
          <p:nvPr/>
        </p:nvSpPr>
        <p:spPr>
          <a:xfrm>
            <a:off x="6754000" y="2656450"/>
            <a:ext cx="1567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AutoNum type="arabicPeriod"/>
            </a:pPr>
            <a:r>
              <a:rPr b="0" i="0" lang="zh-TW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產學合作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AutoNum type="arabicPeriod"/>
            </a:pPr>
            <a:r>
              <a:rPr b="0" i="0" lang="zh-TW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研究計劃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zh-TW"/>
              <a:t>Step3: 設定要執行的計劃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211" name="Google Shape;21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zh-TW"/>
              <a:t>雙擊 windows_setting.bat ，</a:t>
            </a:r>
            <a:br>
              <a:rPr lang="zh-TW"/>
            </a:br>
            <a:r>
              <a:rPr lang="zh-TW"/>
              <a:t>分為「產學合作」、「研究計畫」後，確認項目後按下確認</a:t>
            </a:r>
            <a:endParaRPr/>
          </a:p>
        </p:txBody>
      </p:sp>
      <p:pic>
        <p:nvPicPr>
          <p:cNvPr id="212" name="Google Shape;21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1975" y="1971752"/>
            <a:ext cx="4901100" cy="291005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13" name="Google Shape;21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81675" y="3562425"/>
            <a:ext cx="2781300" cy="146685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14" name="Google Shape;214;p14"/>
          <p:cNvSpPr txBox="1"/>
          <p:nvPr/>
        </p:nvSpPr>
        <p:spPr>
          <a:xfrm>
            <a:off x="4459275" y="44875"/>
            <a:ext cx="46848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zh-TW" sz="29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windows_setting.bat </a:t>
            </a:r>
            <a:endParaRPr b="0" i="0" sz="29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5" name="Google Shape;215;p14"/>
          <p:cNvPicPr preferRelativeResize="0"/>
          <p:nvPr/>
        </p:nvPicPr>
        <p:blipFill rotWithShape="1">
          <a:blip r:embed="rId5">
            <a:alphaModFix/>
          </a:blip>
          <a:srcRect b="0" l="1574" r="72059" t="0"/>
          <a:stretch/>
        </p:blipFill>
        <p:spPr>
          <a:xfrm>
            <a:off x="878725" y="1090500"/>
            <a:ext cx="2231975" cy="43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TW"/>
              <a:t>選擇要處理的檔案</a:t>
            </a:r>
            <a:endParaRPr/>
          </a:p>
        </p:txBody>
      </p:sp>
      <p:sp>
        <p:nvSpPr>
          <p:cNvPr id="221" name="Google Shape;221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TW"/>
              <a:t>記得要根據「準備的資料」放在相應的位置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lang="zh-TW"/>
              <a:t>選擇要處理的檔案</a:t>
            </a:r>
            <a:endParaRPr/>
          </a:p>
        </p:txBody>
      </p:sp>
      <p:pic>
        <p:nvPicPr>
          <p:cNvPr id="222" name="Google Shape;22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550" y="2269600"/>
            <a:ext cx="3695700" cy="207645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23" name="Google Shape;223;p15"/>
          <p:cNvSpPr/>
          <p:nvPr/>
        </p:nvSpPr>
        <p:spPr>
          <a:xfrm>
            <a:off x="4514675" y="2975675"/>
            <a:ext cx="556500" cy="4668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4" name="Google Shape;224;p15"/>
          <p:cNvPicPr preferRelativeResize="0"/>
          <p:nvPr/>
        </p:nvPicPr>
        <p:blipFill rotWithShape="1">
          <a:blip r:embed="rId4">
            <a:alphaModFix/>
          </a:blip>
          <a:srcRect b="0" l="0" r="50985" t="0"/>
          <a:stretch/>
        </p:blipFill>
        <p:spPr>
          <a:xfrm>
            <a:off x="5648350" y="1332025"/>
            <a:ext cx="2754551" cy="31623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25" name="Google Shape;225;p15"/>
          <p:cNvSpPr txBox="1"/>
          <p:nvPr/>
        </p:nvSpPr>
        <p:spPr>
          <a:xfrm>
            <a:off x="6144000" y="44875"/>
            <a:ext cx="30000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zh-TW" sz="23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windows_setting.bat </a:t>
            </a:r>
            <a:endParaRPr b="0" i="0" sz="23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TW"/>
              <a:t>選擇那個檔案要處理對應的試算表</a:t>
            </a:r>
            <a:endParaRPr/>
          </a:p>
        </p:txBody>
      </p:sp>
      <p:sp>
        <p:nvSpPr>
          <p:cNvPr id="231" name="Google Shape;231;p16"/>
          <p:cNvSpPr txBox="1"/>
          <p:nvPr>
            <p:ph idx="1" type="body"/>
          </p:nvPr>
        </p:nvSpPr>
        <p:spPr>
          <a:xfrm>
            <a:off x="3426525" y="101772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TW"/>
              <a:t>可以多選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232" name="Google Shape;23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2888" y="1211888"/>
            <a:ext cx="2790825" cy="311467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33" name="Google Shape;233;p16"/>
          <p:cNvSpPr txBox="1"/>
          <p:nvPr/>
        </p:nvSpPr>
        <p:spPr>
          <a:xfrm>
            <a:off x="6144000" y="44875"/>
            <a:ext cx="30000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zh-TW" sz="23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windows_setting.bat </a:t>
            </a:r>
            <a:endParaRPr b="0" i="0" sz="23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4" name="Google Shape;234;p16"/>
          <p:cNvPicPr preferRelativeResize="0"/>
          <p:nvPr/>
        </p:nvPicPr>
        <p:blipFill rotWithShape="1">
          <a:blip r:embed="rId4">
            <a:alphaModFix/>
          </a:blip>
          <a:srcRect b="0" l="0" r="76091" t="0"/>
          <a:stretch/>
        </p:blipFill>
        <p:spPr>
          <a:xfrm>
            <a:off x="3402575" y="3744125"/>
            <a:ext cx="4337825" cy="647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TW"/>
              <a:t>選擇欄位</a:t>
            </a:r>
            <a:endParaRPr/>
          </a:p>
        </p:txBody>
      </p:sp>
      <p:sp>
        <p:nvSpPr>
          <p:cNvPr id="240" name="Google Shape;240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TW"/>
              <a:t>必填(推薦的主要方法)：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計劃名稱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中文關鍵字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計劃摘要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主持人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申請機構</a:t>
            </a:r>
            <a:endParaRPr/>
          </a:p>
        </p:txBody>
      </p:sp>
      <p:pic>
        <p:nvPicPr>
          <p:cNvPr id="241" name="Google Shape;24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25187" y="44875"/>
            <a:ext cx="3293625" cy="49711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42" name="Google Shape;242;p17"/>
          <p:cNvSpPr txBox="1"/>
          <p:nvPr/>
        </p:nvSpPr>
        <p:spPr>
          <a:xfrm>
            <a:off x="6144000" y="44875"/>
            <a:ext cx="30000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zh-TW" sz="23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windows_setting.bat </a:t>
            </a:r>
            <a:endParaRPr b="0" i="0" sz="23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72840"/>
              <a:buNone/>
            </a:pPr>
            <a:r>
              <a:rPr lang="zh-TW"/>
              <a:t>選擇欄位 </a:t>
            </a:r>
            <a:r>
              <a:rPr lang="zh-TW" sz="1800">
                <a:solidFill>
                  <a:schemeClr val="dk2"/>
                </a:solidFill>
              </a:rPr>
              <a:t>舉例來說！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pic>
        <p:nvPicPr>
          <p:cNvPr id="248" name="Google Shape;24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106283"/>
            <a:ext cx="9143999" cy="1274584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cxnSp>
        <p:nvCxnSpPr>
          <p:cNvPr id="249" name="Google Shape;249;p18"/>
          <p:cNvCxnSpPr/>
          <p:nvPr/>
        </p:nvCxnSpPr>
        <p:spPr>
          <a:xfrm>
            <a:off x="1197225" y="1590875"/>
            <a:ext cx="0" cy="1458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50" name="Google Shape;250;p18"/>
          <p:cNvSpPr txBox="1"/>
          <p:nvPr/>
        </p:nvSpPr>
        <p:spPr>
          <a:xfrm>
            <a:off x="807000" y="1165300"/>
            <a:ext cx="945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TW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申請機構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1" name="Google Shape;251;p18"/>
          <p:cNvCxnSpPr/>
          <p:nvPr/>
        </p:nvCxnSpPr>
        <p:spPr>
          <a:xfrm>
            <a:off x="1587725" y="2340725"/>
            <a:ext cx="0" cy="708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52" name="Google Shape;252;p18"/>
          <p:cNvSpPr txBox="1"/>
          <p:nvPr/>
        </p:nvSpPr>
        <p:spPr>
          <a:xfrm>
            <a:off x="1327425" y="1888375"/>
            <a:ext cx="1197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TW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計劃主持人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3" name="Google Shape;253;p18"/>
          <p:cNvCxnSpPr/>
          <p:nvPr/>
        </p:nvCxnSpPr>
        <p:spPr>
          <a:xfrm>
            <a:off x="2839550" y="1783400"/>
            <a:ext cx="0" cy="128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54" name="Google Shape;254;p18"/>
          <p:cNvSpPr txBox="1"/>
          <p:nvPr/>
        </p:nvSpPr>
        <p:spPr>
          <a:xfrm>
            <a:off x="2524725" y="1350025"/>
            <a:ext cx="945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TW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計劃名稱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5" name="Google Shape;255;p18"/>
          <p:cNvCxnSpPr/>
          <p:nvPr/>
        </p:nvCxnSpPr>
        <p:spPr>
          <a:xfrm>
            <a:off x="3863375" y="2467375"/>
            <a:ext cx="0" cy="572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56" name="Google Shape;256;p18"/>
          <p:cNvSpPr txBox="1"/>
          <p:nvPr/>
        </p:nvSpPr>
        <p:spPr>
          <a:xfrm>
            <a:off x="3470625" y="2000975"/>
            <a:ext cx="993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TW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計劃摘要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9"/>
          <p:cNvSpPr txBox="1"/>
          <p:nvPr>
            <p:ph idx="1" type="body"/>
          </p:nvPr>
        </p:nvSpPr>
        <p:spPr>
          <a:xfrm>
            <a:off x="311700" y="1152475"/>
            <a:ext cx="8520600" cy="3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ct val="108108"/>
              <a:buChar char="●"/>
            </a:pPr>
            <a:r>
              <a:rPr b="1" lang="zh-TW">
                <a:solidFill>
                  <a:srgbClr val="FF0000"/>
                </a:solidFill>
              </a:rPr>
              <a:t>計劃名稱</a:t>
            </a:r>
            <a:r>
              <a:rPr lang="zh-TW"/>
              <a:t>：要申請計劃名稱的欄位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8108"/>
              <a:buChar char="●"/>
            </a:pPr>
            <a:r>
              <a:rPr b="1" lang="zh-TW">
                <a:solidFill>
                  <a:srgbClr val="FF0000"/>
                </a:solidFill>
              </a:rPr>
              <a:t>中文關鍵字</a:t>
            </a:r>
            <a:r>
              <a:rPr lang="zh-TW"/>
              <a:t>：計劃專業的關鍵字的欄位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ct val="108108"/>
              <a:buChar char="●"/>
            </a:pPr>
            <a:r>
              <a:rPr b="1" lang="zh-TW">
                <a:solidFill>
                  <a:srgbClr val="FF0000"/>
                </a:solidFill>
              </a:rPr>
              <a:t>計劃摘要</a:t>
            </a:r>
            <a:r>
              <a:rPr b="1" lang="zh-TW"/>
              <a:t>：</a:t>
            </a:r>
            <a:r>
              <a:rPr lang="zh-TW"/>
              <a:t>關於計劃的摘要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ct val="108108"/>
              <a:buChar char="●"/>
            </a:pPr>
            <a:r>
              <a:rPr b="1" lang="zh-TW">
                <a:solidFill>
                  <a:srgbClr val="FF0000"/>
                </a:solidFill>
              </a:rPr>
              <a:t>申請機構</a:t>
            </a:r>
            <a:r>
              <a:rPr lang="zh-TW"/>
              <a:t>：來自於哪裡申請的學校的欄位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ct val="108108"/>
              <a:buChar char="●"/>
            </a:pPr>
            <a:r>
              <a:rPr b="1" lang="zh-TW">
                <a:solidFill>
                  <a:srgbClr val="FF0000"/>
                </a:solidFill>
              </a:rPr>
              <a:t>計劃主持人</a:t>
            </a:r>
            <a:r>
              <a:rPr lang="zh-TW"/>
              <a:t>：申請人名稱的欄位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ct val="108108"/>
              <a:buChar char="●"/>
            </a:pPr>
            <a:r>
              <a:rPr b="1" lang="zh-TW"/>
              <a:t>計畫相關其他欄位 </a:t>
            </a:r>
            <a:r>
              <a:rPr lang="zh-TW"/>
              <a:t>：不影響結果，</a:t>
            </a:r>
            <a:br>
              <a:rPr lang="zh-TW"/>
            </a:br>
            <a:r>
              <a:rPr lang="zh-TW"/>
              <a:t>但是可以</a:t>
            </a:r>
            <a:r>
              <a:rPr lang="zh-TW">
                <a:highlight>
                  <a:srgbClr val="FFF2CC"/>
                </a:highlight>
              </a:rPr>
              <a:t>附帶在輸出的結果裡面，方便閱讀</a:t>
            </a:r>
            <a:endParaRPr>
              <a:highlight>
                <a:srgbClr val="FFF2CC"/>
              </a:highlight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ct val="108108"/>
              <a:buChar char="●"/>
            </a:pPr>
            <a:r>
              <a:rPr b="1" lang="zh-TW"/>
              <a:t>共同計劃主持人</a:t>
            </a:r>
            <a:r>
              <a:rPr lang="zh-TW"/>
              <a:t>：</a:t>
            </a:r>
            <a:br>
              <a:rPr lang="zh-TW"/>
            </a:br>
            <a:r>
              <a:rPr lang="zh-TW"/>
              <a:t>除了計劃主持人的一同申請的申請人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200"/>
              </a:spcAft>
              <a:buSzPct val="108108"/>
              <a:buChar char="●"/>
            </a:pPr>
            <a:r>
              <a:rPr b="1" lang="zh-TW"/>
              <a:t>共同機構</a:t>
            </a:r>
            <a:r>
              <a:rPr lang="zh-TW"/>
              <a:t>：除了申請機構一同申請的機構</a:t>
            </a:r>
            <a:endParaRPr/>
          </a:p>
        </p:txBody>
      </p:sp>
      <p:sp>
        <p:nvSpPr>
          <p:cNvPr id="262" name="Google Shape;262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TW"/>
              <a:t>選擇欄位</a:t>
            </a:r>
            <a:endParaRPr/>
          </a:p>
        </p:txBody>
      </p:sp>
      <p:pic>
        <p:nvPicPr>
          <p:cNvPr id="263" name="Google Shape;26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80011" y="445025"/>
            <a:ext cx="3085840" cy="465745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64" name="Google Shape;264;p19"/>
          <p:cNvSpPr txBox="1"/>
          <p:nvPr/>
        </p:nvSpPr>
        <p:spPr>
          <a:xfrm>
            <a:off x="6144000" y="44875"/>
            <a:ext cx="30000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zh-TW" sz="23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windows_setting.bat </a:t>
            </a:r>
            <a:endParaRPr b="0" i="0" sz="23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19"/>
          <p:cNvSpPr txBox="1"/>
          <p:nvPr/>
        </p:nvSpPr>
        <p:spPr>
          <a:xfrm>
            <a:off x="1939500" y="737000"/>
            <a:ext cx="4297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>
                <a:solidFill>
                  <a:srgbClr val="FF0000"/>
                </a:solidFill>
              </a:rPr>
              <a:t>必要欄位一定要選！！</a:t>
            </a:r>
            <a:endParaRPr b="1" sz="18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TW"/>
              <a:t>Step 4: 執行檔案，雙擊 windows.bat</a:t>
            </a:r>
            <a:endParaRPr/>
          </a:p>
        </p:txBody>
      </p:sp>
      <p:sp>
        <p:nvSpPr>
          <p:cNvPr id="271" name="Google Shape;271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zh-TW"/>
              <a:t>1. 可能會需要等待一點時間....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zh-TW"/>
              <a:t>2. 存入資料庫（更新資料庫）：</a:t>
            </a:r>
            <a:br>
              <a:rPr lang="zh-TW"/>
            </a:br>
            <a:r>
              <a:rPr lang="zh-TW"/>
              <a:t>若已經匯入就不用選擇(預設已經匯入)，並且要確保記憶體空間超過 16GB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TW"/>
              <a:t>如果需要更改需到setting.yaml 修改存</a:t>
            </a:r>
            <a:r>
              <a:rPr lang="zh-TW"/>
              <a:t>入</a:t>
            </a:r>
            <a:r>
              <a:rPr lang="zh-TW"/>
              <a:t>資料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lang="zh-TW">
                <a:solidFill>
                  <a:srgbClr val="FF0000"/>
                </a:solidFill>
              </a:rPr>
              <a:t>3. 輸出推薦委員：保證資料都已經匯入就可以輸出檔案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272" name="Google Shape;272;p20"/>
          <p:cNvSpPr txBox="1"/>
          <p:nvPr/>
        </p:nvSpPr>
        <p:spPr>
          <a:xfrm>
            <a:off x="6144000" y="44875"/>
            <a:ext cx="3000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zh-TW" sz="3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windows.bat </a:t>
            </a:r>
            <a:endParaRPr b="0" i="0" sz="3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3" name="Google Shape;273;p20" title="截圖 2026-07-13 13.44.5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7097" y="3153575"/>
            <a:ext cx="2383025" cy="182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" name="Google Shape;274;p20" title="截圖 2026-07-13 13.46.0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82725" y="3153575"/>
            <a:ext cx="3573255" cy="1827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20"/>
          <p:cNvSpPr txBox="1"/>
          <p:nvPr/>
        </p:nvSpPr>
        <p:spPr>
          <a:xfrm>
            <a:off x="6423550" y="3941050"/>
            <a:ext cx="21801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500">
                <a:solidFill>
                  <a:schemeClr val="dk2"/>
                </a:solidFill>
              </a:rPr>
              <a:t>← 會顯示當前執行進度</a:t>
            </a:r>
            <a:endParaRPr sz="1500">
              <a:solidFill>
                <a:schemeClr val="dk2"/>
              </a:solidFill>
            </a:endParaRPr>
          </a:p>
        </p:txBody>
      </p:sp>
      <p:sp>
        <p:nvSpPr>
          <p:cNvPr id="276" name="Google Shape;276;p20"/>
          <p:cNvSpPr/>
          <p:nvPr/>
        </p:nvSpPr>
        <p:spPr>
          <a:xfrm>
            <a:off x="3390200" y="3941025"/>
            <a:ext cx="3087600" cy="738900"/>
          </a:xfrm>
          <a:prstGeom prst="rect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TW"/>
              <a:t>輸出的檔案</a:t>
            </a:r>
            <a:endParaRPr/>
          </a:p>
        </p:txBody>
      </p:sp>
      <p:sp>
        <p:nvSpPr>
          <p:cNvPr id="282" name="Google Shape;282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TW"/>
              <a:t>可以主要看 </a:t>
            </a:r>
            <a:r>
              <a:rPr lang="zh-TW">
                <a:highlight>
                  <a:srgbClr val="FFF2CC"/>
                </a:highlight>
              </a:rPr>
              <a:t>推薦表統合_VBA</a:t>
            </a:r>
            <a:endParaRPr>
              <a:highlight>
                <a:srgbClr val="FFF2CC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lang="zh-TW"/>
              <a:t>=&gt; ./data/output/{</a:t>
            </a:r>
            <a:r>
              <a:rPr lang="zh-TW"/>
              <a:t>審查案名稱</a:t>
            </a:r>
            <a:r>
              <a:rPr lang="zh-TW"/>
              <a:t>}_{</a:t>
            </a:r>
            <a:r>
              <a:rPr lang="zh-TW"/>
              <a:t>時間</a:t>
            </a:r>
            <a:r>
              <a:rPr lang="zh-TW"/>
              <a:t>}/...</a:t>
            </a:r>
            <a:endParaRPr/>
          </a:p>
        </p:txBody>
      </p:sp>
      <p:pic>
        <p:nvPicPr>
          <p:cNvPr id="283" name="Google Shape;283;p21" title="截圖 2026-07-13 13.58.1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9213" y="2213650"/>
            <a:ext cx="2067800" cy="245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p21" title="截圖 2026-07-13 13.58.52.png"/>
          <p:cNvPicPr preferRelativeResize="0"/>
          <p:nvPr/>
        </p:nvPicPr>
        <p:blipFill rotWithShape="1">
          <a:blip r:embed="rId4">
            <a:alphaModFix/>
          </a:blip>
          <a:srcRect b="52494" l="0" r="0" t="0"/>
          <a:stretch/>
        </p:blipFill>
        <p:spPr>
          <a:xfrm>
            <a:off x="2915113" y="2641950"/>
            <a:ext cx="5869675" cy="16572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f4f89e88cb_0_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TW"/>
              <a:t>過程中可能遇到問題</a:t>
            </a:r>
            <a:endParaRPr/>
          </a:p>
        </p:txBody>
      </p:sp>
      <p:sp>
        <p:nvSpPr>
          <p:cNvPr id="290" name="Google Shape;290;g3f4f89e88cb_0_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zh-TW"/>
              <a:t>[Errno 13] Permission denied:.... 代表你可能開著 EXCEL 記得關掉，東西都關掉後重開看看！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zh-TW"/>
              <a:t>Ollama 回應超時!： 找RA處理，應該是因為有其他人在使用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zh-TW"/>
              <a:t>key not foung: 確認setting.yaml是否有缺漏 可以參考setting_example.yaml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f4f89e88cb_0_19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zh-TW" sz="6500"/>
              <a:t>更新資料</a:t>
            </a:r>
            <a:endParaRPr sz="6500"/>
          </a:p>
        </p:txBody>
      </p:sp>
      <p:sp>
        <p:nvSpPr>
          <p:cNvPr id="296" name="Google Shape;296;g3f4f89e88cb_0_19"/>
          <p:cNvSpPr txBox="1"/>
          <p:nvPr/>
        </p:nvSpPr>
        <p:spPr>
          <a:xfrm>
            <a:off x="0" y="3666000"/>
            <a:ext cx="59373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800">
                <a:solidFill>
                  <a:srgbClr val="FF0000"/>
                </a:solidFill>
              </a:rPr>
              <a:t>如果資料庫或是教授資料需要更新</a:t>
            </a:r>
            <a:endParaRPr sz="2800">
              <a:solidFill>
                <a:srgbClr val="FF0000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800">
                <a:solidFill>
                  <a:srgbClr val="FF0000"/>
                </a:solidFill>
              </a:rPr>
              <a:t>請使用以下步驟</a:t>
            </a:r>
            <a:endParaRPr sz="2800">
              <a:solidFill>
                <a:srgbClr val="FF0000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800">
                <a:solidFill>
                  <a:srgbClr val="FF0000"/>
                </a:solidFill>
              </a:rPr>
              <a:t>建議找學生處理有些許複雜</a:t>
            </a:r>
            <a:endParaRPr sz="28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f4f89e88cb_0_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TW"/>
              <a:t>更新教授資料</a:t>
            </a:r>
            <a:endParaRPr/>
          </a:p>
        </p:txBody>
      </p:sp>
      <p:sp>
        <p:nvSpPr>
          <p:cNvPr id="302" name="Google Shape;302;g3f4f89e88cb_0_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zh-TW"/>
              <a:t>1. </a:t>
            </a:r>
            <a:r>
              <a:rPr lang="zh-TW"/>
              <a:t>需確認在 data/RDF_database 中有 暫存最新人才資料庫 與 統計清單人才資料_RDF_UNI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TW"/>
              <a:t>2. 確認在crawler 有committee_all_education_with_advisor (沒有不影響)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TW" sz="1500">
                <a:highlight>
                  <a:srgbClr val="FFF2CC"/>
                </a:highlight>
              </a:rPr>
              <a:t>如果有更新需要確認setting.yaml 中</a:t>
            </a:r>
            <a:endParaRPr sz="1500">
              <a:highlight>
                <a:srgbClr val="FFF2CC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TW" sz="1500">
                <a:highlight>
                  <a:srgbClr val="FFF2CC"/>
                </a:highlight>
              </a:rPr>
              <a:t>crawler中委員指導教授資料</a:t>
            </a:r>
            <a:endParaRPr sz="1500">
              <a:highlight>
                <a:srgbClr val="FFF2CC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TW" sz="1500">
                <a:highlight>
                  <a:srgbClr val="FFF2CC"/>
                </a:highlight>
              </a:rPr>
              <a:t>是指向最新檔案</a:t>
            </a:r>
            <a:endParaRPr sz="1500">
              <a:highlight>
                <a:srgbClr val="FFF2CC"/>
              </a:highlight>
            </a:endParaRPr>
          </a:p>
        </p:txBody>
      </p:sp>
      <p:sp>
        <p:nvSpPr>
          <p:cNvPr id="303" name="Google Shape;303;g3f4f89e88cb_0_25"/>
          <p:cNvSpPr txBox="1"/>
          <p:nvPr/>
        </p:nvSpPr>
        <p:spPr>
          <a:xfrm>
            <a:off x="5081425" y="44875"/>
            <a:ext cx="4062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zh-TW" sz="3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windows</a:t>
            </a:r>
            <a:r>
              <a:rPr lang="zh-TW" sz="3600">
                <a:solidFill>
                  <a:srgbClr val="FF0000"/>
                </a:solidFill>
              </a:rPr>
              <a:t>_crawl</a:t>
            </a:r>
            <a:r>
              <a:rPr b="0" i="0" lang="zh-TW" sz="3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.bat </a:t>
            </a:r>
            <a:endParaRPr b="0" i="0" sz="3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4" name="Google Shape;304;g3f4f89e88cb_0_25" title="截圖 2026-07-13 14.01.4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48125" y="1610825"/>
            <a:ext cx="4684168" cy="1298475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g3f4f89e88cb_0_25"/>
          <p:cNvSpPr/>
          <p:nvPr/>
        </p:nvSpPr>
        <p:spPr>
          <a:xfrm>
            <a:off x="4189275" y="2249800"/>
            <a:ext cx="1668000" cy="411300"/>
          </a:xfrm>
          <a:prstGeom prst="rect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06" name="Google Shape;306;g3f4f89e88cb_0_25" title="截圖 2026-07-13 14.03.1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09125" y="3647602"/>
            <a:ext cx="4684177" cy="1429278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g3f4f89e88cb_0_25"/>
          <p:cNvSpPr/>
          <p:nvPr/>
        </p:nvSpPr>
        <p:spPr>
          <a:xfrm>
            <a:off x="4163650" y="4569425"/>
            <a:ext cx="2027100" cy="139500"/>
          </a:xfrm>
          <a:prstGeom prst="rect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g3f4f89e88cb_0_25"/>
          <p:cNvSpPr txBox="1"/>
          <p:nvPr/>
        </p:nvSpPr>
        <p:spPr>
          <a:xfrm>
            <a:off x="311700" y="2238000"/>
            <a:ext cx="52134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500">
                <a:solidFill>
                  <a:srgbClr val="FF0000"/>
                </a:solidFill>
              </a:rPr>
              <a:t>一定要有</a:t>
            </a:r>
            <a:endParaRPr sz="15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500">
                <a:solidFill>
                  <a:srgbClr val="FF0000"/>
                </a:solidFill>
              </a:rPr>
              <a:t>在先前執行推薦時會自動更新</a:t>
            </a:r>
            <a:endParaRPr sz="15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500">
                <a:solidFill>
                  <a:srgbClr val="FF0000"/>
                </a:solidFill>
              </a:rPr>
              <a:t>故建議是每年更新一次即可(先前的檔案不要刪掉)</a:t>
            </a:r>
            <a:endParaRPr sz="15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3f4f89e88cb_0_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TW"/>
              <a:t>更新教授資料</a:t>
            </a:r>
            <a:endParaRPr/>
          </a:p>
        </p:txBody>
      </p:sp>
      <p:pic>
        <p:nvPicPr>
          <p:cNvPr id="314" name="Google Shape;314;g3f4f89e88cb_0_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2842950"/>
            <a:ext cx="4468501" cy="2260551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g3f4f89e88cb_0_4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zh-TW"/>
              <a:t>Step1: 於 NSTC（國家科學及技術委員會研究人才查詢）以「教授名稱＋當前任職單位」取得教授畢業院校（註：部分教授未公開，故查不到）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zh-TW"/>
              <a:t>Step2:  於 NDLTD（碩博士論文加值網）取得教授的指導教授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zh-TW"/>
              <a:t>過程中因為需要打驗證碼，故需要適時查看 在輸入後按下enter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316" name="Google Shape;316;g3f4f89e88cb_0_46"/>
          <p:cNvSpPr txBox="1"/>
          <p:nvPr/>
        </p:nvSpPr>
        <p:spPr>
          <a:xfrm>
            <a:off x="5081425" y="44875"/>
            <a:ext cx="4062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zh-TW" sz="3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windows</a:t>
            </a:r>
            <a:r>
              <a:rPr lang="zh-TW" sz="3600">
                <a:solidFill>
                  <a:srgbClr val="FF0000"/>
                </a:solidFill>
              </a:rPr>
              <a:t>_crawl</a:t>
            </a:r>
            <a:r>
              <a:rPr b="0" i="0" lang="zh-TW" sz="3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.bat </a:t>
            </a:r>
            <a:endParaRPr b="0" i="0" sz="3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g3f4f89e88cb_0_46"/>
          <p:cNvSpPr/>
          <p:nvPr/>
        </p:nvSpPr>
        <p:spPr>
          <a:xfrm>
            <a:off x="311700" y="4057375"/>
            <a:ext cx="1837200" cy="263700"/>
          </a:xfrm>
          <a:prstGeom prst="rect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18" name="Google Shape;318;g3f4f89e88cb_0_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03850" y="3461150"/>
            <a:ext cx="3952998" cy="1593750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g3f4f89e88cb_0_46"/>
          <p:cNvSpPr/>
          <p:nvPr/>
        </p:nvSpPr>
        <p:spPr>
          <a:xfrm>
            <a:off x="5003850" y="3894475"/>
            <a:ext cx="1668000" cy="504300"/>
          </a:xfrm>
          <a:prstGeom prst="rect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g3f4f89e88cb_0_46"/>
          <p:cNvSpPr txBox="1"/>
          <p:nvPr/>
        </p:nvSpPr>
        <p:spPr>
          <a:xfrm>
            <a:off x="5003850" y="3198275"/>
            <a:ext cx="4468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2"/>
                </a:solidFill>
                <a:highlight>
                  <a:srgbClr val="FFF2CC"/>
                </a:highlight>
              </a:rPr>
              <a:t>輸入後進入碩博士網站載到終端機按下enter</a:t>
            </a:r>
            <a:endParaRPr>
              <a:solidFill>
                <a:schemeClr val="dk2"/>
              </a:solidFill>
              <a:highlight>
                <a:srgbClr val="FFF2CC"/>
              </a:highlight>
            </a:endParaRPr>
          </a:p>
        </p:txBody>
      </p:sp>
      <p:sp>
        <p:nvSpPr>
          <p:cNvPr id="321" name="Google Shape;321;g3f4f89e88cb_0_46"/>
          <p:cNvSpPr txBox="1"/>
          <p:nvPr/>
        </p:nvSpPr>
        <p:spPr>
          <a:xfrm>
            <a:off x="5684125" y="687700"/>
            <a:ext cx="3459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>
                <a:solidFill>
                  <a:schemeClr val="dk2"/>
                </a:solidFill>
                <a:highlight>
                  <a:srgbClr val="F4CCCC"/>
                </a:highlight>
              </a:rPr>
              <a:t>爬蟲會執行很久 建議非必要不要更新</a:t>
            </a:r>
            <a:endParaRPr b="1">
              <a:solidFill>
                <a:schemeClr val="dk2"/>
              </a:solidFill>
              <a:highlight>
                <a:srgbClr val="F4CCCC"/>
              </a:highlight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3f4f89e88cb_0_6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TW"/>
              <a:t>更新</a:t>
            </a:r>
            <a:r>
              <a:rPr lang="zh-TW"/>
              <a:t>通過資料</a:t>
            </a:r>
            <a:endParaRPr/>
          </a:p>
        </p:txBody>
      </p:sp>
      <p:sp>
        <p:nvSpPr>
          <p:cNvPr id="327" name="Google Shape;327;g3f4f89e88cb_0_6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AutoNum type="arabicPeriod"/>
            </a:pPr>
            <a:r>
              <a:rPr lang="zh-TW"/>
              <a:t>修改 setting.yaml 中資料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zh-TW"/>
              <a:t>設定好後執行 windowss.bat 按下存入資料庫即可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328" name="Google Shape;328;g3f4f89e88cb_0_64"/>
          <p:cNvSpPr/>
          <p:nvPr/>
        </p:nvSpPr>
        <p:spPr>
          <a:xfrm>
            <a:off x="331875" y="4561650"/>
            <a:ext cx="3052800" cy="271500"/>
          </a:xfrm>
          <a:prstGeom prst="rect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g3f4f89e88cb_0_64"/>
          <p:cNvSpPr txBox="1"/>
          <p:nvPr/>
        </p:nvSpPr>
        <p:spPr>
          <a:xfrm>
            <a:off x="6144000" y="44875"/>
            <a:ext cx="3000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zh-TW" sz="3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windows.bat </a:t>
            </a:r>
            <a:endParaRPr b="0" i="0" sz="3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0" name="Google Shape;330;g3f4f89e88cb_0_64" title="截圖 2026-07-13 15.02.3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1871" y="2655275"/>
            <a:ext cx="5567875" cy="2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g3f4f89e88cb_0_64"/>
          <p:cNvSpPr/>
          <p:nvPr/>
        </p:nvSpPr>
        <p:spPr>
          <a:xfrm>
            <a:off x="515400" y="3409600"/>
            <a:ext cx="5200800" cy="738900"/>
          </a:xfrm>
          <a:prstGeom prst="rect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g3f4f89e88cb_0_64"/>
          <p:cNvSpPr/>
          <p:nvPr/>
        </p:nvSpPr>
        <p:spPr>
          <a:xfrm>
            <a:off x="551650" y="4642275"/>
            <a:ext cx="5200800" cy="339600"/>
          </a:xfrm>
          <a:prstGeom prst="rect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33" name="Google Shape;333;g3f4f89e88cb_0_64" title="截圖 2026-07-13 15.07.23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1863" y="1912325"/>
            <a:ext cx="3228975" cy="742950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g3f4f89e88cb_0_64"/>
          <p:cNvSpPr txBox="1"/>
          <p:nvPr/>
        </p:nvSpPr>
        <p:spPr>
          <a:xfrm>
            <a:off x="1382275" y="2300225"/>
            <a:ext cx="2242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>
                <a:solidFill>
                  <a:schemeClr val="lt1"/>
                </a:solidFill>
              </a:rPr>
              <a:t>修改成要更新的檔案類型</a:t>
            </a:r>
            <a:endParaRPr b="1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>
                <a:solidFill>
                  <a:schemeClr val="lt1"/>
                </a:solidFill>
              </a:rPr>
              <a:t>如果都要更新要執行兩次!</a:t>
            </a:r>
            <a:endParaRPr b="1">
              <a:solidFill>
                <a:schemeClr val="lt1"/>
              </a:solidFill>
            </a:endParaRPr>
          </a:p>
        </p:txBody>
      </p:sp>
      <p:pic>
        <p:nvPicPr>
          <p:cNvPr id="335" name="Google Shape;335;g3f4f89e88cb_0_64" title="截圖 2026-07-13 13.44.53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31751" y="1654775"/>
            <a:ext cx="2918717" cy="2237700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g3f4f89e88cb_0_64"/>
          <p:cNvSpPr/>
          <p:nvPr/>
        </p:nvSpPr>
        <p:spPr>
          <a:xfrm>
            <a:off x="6276149" y="2571750"/>
            <a:ext cx="2296500" cy="400200"/>
          </a:xfrm>
          <a:prstGeom prst="rect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f4f89e88cb_0_8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TW"/>
              <a:t>更新通過資料</a:t>
            </a:r>
            <a:endParaRPr/>
          </a:p>
        </p:txBody>
      </p:sp>
      <p:sp>
        <p:nvSpPr>
          <p:cNvPr id="342" name="Google Shape;342;g3f4f89e88cb_0_8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zh-TW" sz="6458"/>
              <a:t>確保輸入資料欄位如下(每個分頁欄位名稱要一樣)：</a:t>
            </a:r>
            <a:endParaRPr sz="6458"/>
          </a:p>
          <a:p>
            <a:pPr indent="-318416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●"/>
            </a:pPr>
            <a:r>
              <a:rPr b="1" lang="zh-TW" sz="5658"/>
              <a:t>研究計畫</a:t>
            </a:r>
            <a:r>
              <a:rPr lang="zh-TW" sz="5658"/>
              <a:t>（is_industry=False，來源＝計畫過去申請案件）</a:t>
            </a:r>
            <a:endParaRPr sz="5658"/>
          </a:p>
          <a:p>
            <a:pPr indent="-305716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zh-TW" sz="4858"/>
              <a:t>檔案每個年度分頁都要有上面四欄，分頁名要對上 計畫過去申請案件年分範圍(請以年份代表)。</a:t>
            </a:r>
            <a:endParaRPr sz="4858"/>
          </a:p>
          <a:p>
            <a:pPr indent="-305716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zh-TW" sz="4858"/>
              <a:t>「</a:t>
            </a:r>
            <a:r>
              <a:rPr lang="zh-TW" sz="4858"/>
              <a:t>通過」欄不用自己準備——程式會自動補：</a:t>
            </a:r>
            <a:endParaRPr sz="4858"/>
          </a:p>
          <a:p>
            <a:pPr indent="-305716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■"/>
            </a:pPr>
            <a:r>
              <a:rPr lang="zh-TW" sz="4858"/>
              <a:t>  有提供 統計清單（{年度}總計畫清單 分頁，需含 計畫中文名稱）→ 用它比對決定 通過 = true/false，只有 true 的才存入。</a:t>
            </a:r>
            <a:endParaRPr sz="4858"/>
          </a:p>
          <a:p>
            <a:pPr indent="-305716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■"/>
            </a:pPr>
            <a:r>
              <a:rPr lang="zh-TW" sz="4858"/>
              <a:t>  沒提供統計清單 → 該年度全部視為通過存入。</a:t>
            </a:r>
            <a:endParaRPr sz="4858"/>
          </a:p>
          <a:p>
            <a:pPr indent="-318416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zh-TW" sz="5658"/>
              <a:t>產學合作</a:t>
            </a:r>
            <a:r>
              <a:rPr lang="zh-TW" sz="5658"/>
              <a:t>（is_industry=True，來源＝產學過去申請名冊）</a:t>
            </a:r>
            <a:endParaRPr sz="5658"/>
          </a:p>
          <a:p>
            <a:pPr indent="-305716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zh-TW" sz="4858"/>
              <a:t>分頁名寫死為 專題計畫綜合查詢（get_industry_coop_proj 內），你的檔案必須有這個分頁。</a:t>
            </a:r>
            <a:endParaRPr sz="4858"/>
          </a:p>
          <a:p>
            <a:pPr indent="-305716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zh-TW" sz="4858"/>
              <a:t>一樣要有那四個欄位。</a:t>
            </a:r>
            <a:endParaRPr sz="4858"/>
          </a:p>
          <a:p>
            <a:pPr indent="-305716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zh-TW" sz="4858"/>
              <a:t>產學不做通過與否的過濾，全部存入。</a:t>
            </a:r>
            <a:endParaRPr sz="4858"/>
          </a:p>
          <a:p>
            <a:pPr indent="-305716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TW" sz="4858"/>
              <a:t>必要欄位名稱（確保名稱一致）</a:t>
            </a:r>
            <a:endParaRPr sz="4858"/>
          </a:p>
          <a:p>
            <a:pPr indent="-305716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zh-TW" sz="4858"/>
              <a:t>計畫主持人、計畫中文名稱、中文摘要、中文關鍵字</a:t>
            </a:r>
            <a:endParaRPr sz="4858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</p:txBody>
      </p:sp>
      <p:sp>
        <p:nvSpPr>
          <p:cNvPr id="343" name="Google Shape;343;g3f4f89e88cb_0_83"/>
          <p:cNvSpPr txBox="1"/>
          <p:nvPr/>
        </p:nvSpPr>
        <p:spPr>
          <a:xfrm>
            <a:off x="6144000" y="44875"/>
            <a:ext cx="3000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zh-TW" sz="3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windows.bat </a:t>
            </a:r>
            <a:endParaRPr b="0" i="0" sz="3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2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zh-TW"/>
              <a:t>原理</a:t>
            </a:r>
            <a:endParaRPr/>
          </a:p>
        </p:txBody>
      </p:sp>
      <p:sp>
        <p:nvSpPr>
          <p:cNvPr id="349" name="Google Shape;349;p23"/>
          <p:cNvSpPr txBox="1"/>
          <p:nvPr/>
        </p:nvSpPr>
        <p:spPr>
          <a:xfrm>
            <a:off x="396875" y="3382175"/>
            <a:ext cx="82119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4" name="Google Shape;354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16975" y="2676650"/>
            <a:ext cx="5593226" cy="2365100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TW"/>
              <a:t>WorkFlow</a:t>
            </a:r>
            <a:endParaRPr/>
          </a:p>
        </p:txBody>
      </p:sp>
      <p:pic>
        <p:nvPicPr>
          <p:cNvPr id="356" name="Google Shape;356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1700" y="1089100"/>
            <a:ext cx="4253102" cy="1694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